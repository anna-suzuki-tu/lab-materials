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1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spc="300">
                <a:solidFill>
                  <a:srgbClr val="5D5D5D"/>
                </a:solidFill>
                <a:latin typeface="Hiragino Sans W6"/>
                <a:ea typeface="Hiragino Sans W6"/>
              </a:rPr>
              <a:t>SUZUKI-A. LAB ORIENTATION — DAY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607" y="1828126"/>
            <a:ext cx="75895" cy="100718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7927" y="1782406"/>
            <a:ext cx="10442905" cy="10986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>
                <a:solidFill>
                  <a:srgbClr val="1F2937"/>
                </a:solidFill>
                <a:latin typeface="Hiragino Sans W8"/>
                <a:ea typeface="Hiragino Sans W8"/>
              </a:rPr>
              <a:t>鈴木研へようこそ：研究用OSのインストール</a:t>
            </a:r>
          </a:p>
          <a:p>
            <a:pPr algn="l">
              <a:lnSpc>
                <a:spcPct val="125000"/>
              </a:lnSpc>
            </a:pPr>
            <a:r>
              <a:rPr sz="2356">
                <a:solidFill>
                  <a:srgbClr val="7D7E7F"/>
                </a:solidFill>
                <a:latin typeface="Hiragino Sans W6"/>
                <a:ea typeface="Hiragino Sans W6"/>
              </a:rPr>
              <a:t>Welcome to Suzuki-A. Lab — Installing the Research 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78527" y="3246793"/>
            <a:ext cx="2834640" cy="29260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566833"/>
            <a:ext cx="12191695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>
                <a:solidFill>
                  <a:srgbClr val="5D5D5D"/>
                </a:solidFill>
                <a:latin typeface="Hiragino Sans W4"/>
                <a:ea typeface="Hiragino Sans W4"/>
              </a:rPr>
              <a:t>東北大学 流体科学研究所 鈴木杏奈研究室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932593"/>
            <a:ext cx="12191695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>
                <a:solidFill>
                  <a:srgbClr val="1F2937"/>
                </a:solidFill>
                <a:latin typeface="Hiragino Sans W6"/>
                <a:ea typeface="Hiragino Sans W6"/>
              </a:rPr>
              <a:t>UPDATE STARTING NOW — アップデートを開始します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2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本日の流れ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280160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80160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97864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研究とは何か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197864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What is Research?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1956816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956816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74520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研究は設計で進める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74520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Research as Design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2633472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633472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551176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論文タイプと責任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551176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Paper Types &amp; Responsibilities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3310128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310128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27832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研究活動の5階層構造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227832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5 Layer Structure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3986784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986784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8"/>
                <a:ea typeface="Hiragino Sans W8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904488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学年別の責任と計画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904488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Grade-Specific Goals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4663440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663440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8"/>
                <a:ea typeface="Hiragino Sans W8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581144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必須習慣と文化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581144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Habits &amp; Culture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5513832"/>
            <a:ext cx="10856671" cy="868680"/>
          </a:xfrm>
          <a:prstGeom prst="roundRect">
            <a:avLst>
              <a:gd name="adj" fmla="val 13157"/>
            </a:avLst>
          </a:prstGeom>
          <a:solidFill>
            <a:srgbClr val="F8F4E9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7512" y="5513832"/>
            <a:ext cx="64008" cy="868680"/>
          </a:xfrm>
          <a:prstGeom prst="roundRect">
            <a:avLst>
              <a:gd name="adj" fmla="val 50000"/>
            </a:avLst>
          </a:prstGeom>
          <a:solidFill>
            <a:srgbClr val="C6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5632704"/>
            <a:ext cx="32004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9C8545"/>
                </a:solidFill>
                <a:latin typeface="Hiragino Sans W6"/>
                <a:ea typeface="Hiragino Sans W6"/>
              </a:rPr>
              <a:t>本日の問い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879592"/>
            <a:ext cx="10216591" cy="4114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研究は「運」か？「設計」か？ — Luck or Design?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研究成果よりも、研究を通じて
どう成長するかを重視する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Lab Policy — 最初に、いちばん大事なことから話す。Results → Human Growth（人格形成）。研究は人格形成の装置。今日の最後に、もう一度この話に戻る。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4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Lab Values — 鈴木研の4つの価値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すべての活動の判断基準。今日の話はすべて、この4つの実装である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自己管理 / Self-management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研究の主導権は自分にある。時間・計画・体調を自分で設計する。Research Log と Quarter Plan は自己管理の道具。管理されるのを待たない。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52463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7951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誠実さ /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データにも、人にも、自分にも正直であること。うまくいかない結果や停滞も隠さず共有する。「詰まって沈黙」は誠実さの反対。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敬意 / Respect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人・アイデア・時間への敬意。議論では Work（研究）を批判し、Peer（人）を攻撃しない。相手の時間を尊重した準備をして臨む。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1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2463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1023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7951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共創的探究 / Collective Inquiry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研究は個人戦ではない。Paper Card・Inquiry Cycle という共通言語で、互いの探究を加速させる。文化は全員でつくる。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6952" y="6108192"/>
            <a:ext cx="517779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6952" y="6108192"/>
            <a:ext cx="517779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価値は貼り紙ではなく、日常の行動で示すもの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文化は偶然ではない。設計する。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Research is Culture — 構造（Structure）→ 習慣（Habit）→ 文化（Culture）。今日インストールする「研究OS」は、この文化の設計図である。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研究は「運」か？「設計」か？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Luck or Design? — 受け身の研究と意図的な研究</a:t>
            </a:r>
          </a:p>
        </p:txBody>
      </p:sp>
      <p:sp>
        <p:nvSpPr>
          <p:cNvPr id="6" name="Chevron 5"/>
          <p:cNvSpPr/>
          <p:nvPr/>
        </p:nvSpPr>
        <p:spPr>
          <a:xfrm>
            <a:off x="5867247" y="3456432"/>
            <a:ext cx="457200" cy="566928"/>
          </a:xfrm>
          <a:prstGeom prst="chevron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773936"/>
            <a:ext cx="1382496" cy="384048"/>
          </a:xfrm>
          <a:prstGeom prst="roundRect">
            <a:avLst>
              <a:gd name="adj" fmla="val 19047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73936"/>
            <a:ext cx="138249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6"/>
                <a:ea typeface="Hiragino Sans W6"/>
              </a:rPr>
              <a:t>Luck / 運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72592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59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49631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ひらめき待ち — Waiting for inspiration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889247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89247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65963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当てずっぽうの試行錯誤 — Trial and error only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505256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5256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9304" y="482295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成果は運次第 — Results are random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75907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0227" y="1773936"/>
            <a:ext cx="1763344" cy="384048"/>
          </a:xfrm>
          <a:prstGeom prst="roundRect">
            <a:avLst>
              <a:gd name="adj" fmla="val 19047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0227" y="1773936"/>
            <a:ext cx="1763344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Hiragino Sans W6"/>
                <a:ea typeface="Hiragino Sans W6"/>
              </a:rPr>
              <a:t>Design / 設計</a:t>
            </a:r>
          </a:p>
        </p:txBody>
      </p:sp>
      <p:sp>
        <p:nvSpPr>
          <p:cNvPr id="22" name="Oval 21"/>
          <p:cNvSpPr/>
          <p:nvPr/>
        </p:nvSpPr>
        <p:spPr>
          <a:xfrm>
            <a:off x="6868515" y="272592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7075" y="27259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7699" y="249631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意図的な問い — Intentional Inquiry</a:t>
            </a:r>
          </a:p>
        </p:txBody>
      </p:sp>
      <p:sp>
        <p:nvSpPr>
          <p:cNvPr id="25" name="Oval 24"/>
          <p:cNvSpPr/>
          <p:nvPr/>
        </p:nvSpPr>
        <p:spPr>
          <a:xfrm>
            <a:off x="6868515" y="3889247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77075" y="3889247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7699" y="365963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構造化された工程 — Structured Process</a:t>
            </a:r>
          </a:p>
        </p:txBody>
      </p:sp>
      <p:sp>
        <p:nvSpPr>
          <p:cNvPr id="28" name="Oval 27"/>
          <p:cNvSpPr/>
          <p:nvPr/>
        </p:nvSpPr>
        <p:spPr>
          <a:xfrm>
            <a:off x="6868515" y="505256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7075" y="505256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7699" y="482295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再現性のある成果 — Reproducible results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1262" y="6108192"/>
            <a:ext cx="478917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1262" y="6108192"/>
            <a:ext cx="478917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成果を運のせいにするのは、今日で終わり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同じ時間を使っているのに、なぜ差が出るのか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Why is there a gap? — The Lost vs The Focused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迷走 / The Lost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データはあるが、主張がない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4558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貢献が薄い — Low Contribution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突破 / The Focused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問いの設計に命をかけている</a:t>
            </a:r>
          </a:p>
        </p:txBody>
      </p:sp>
      <p:sp>
        <p:nvSpPr>
          <p:cNvPr id="18" name="Oval 17"/>
          <p:cNvSpPr/>
          <p:nvPr/>
        </p:nvSpPr>
        <p:spPr>
          <a:xfrm>
            <a:off x="6571335" y="354558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インパクトが大きい — High Impact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04243" y="6108192"/>
            <a:ext cx="7383208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04243" y="6108192"/>
            <a:ext cx="7383208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才能ではなく「型」の差 — It's not about Talent. It's the 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「データ先行」の罠：とりあえず実験、とりあえず計算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The "Data-First" Trap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データ取得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Data — まずデータを集める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とりあえず実験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Exp / Sim — 意味は後で考える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迷走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Lost — 何を示したいのか分からなくなる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15487" y="6108192"/>
            <a:ext cx="576072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15487" y="6108192"/>
            <a:ext cx="576072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地図を持たずに森に入るような研究は、今日で終わり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新基準：鈴木研OS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New Standard: Suzuki-A. Lab 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356865"/>
            <a:ext cx="3472586" cy="27660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261289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gear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718968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" y="3307841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>
                <a:solidFill>
                  <a:srgbClr val="1F2937"/>
                </a:solidFill>
                <a:latin typeface="Hiragino Sans W6"/>
                <a:ea typeface="Hiragino Sans W6"/>
              </a:rPr>
              <a:t>体系化 / Systematization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74185"/>
            <a:ext cx="2960522" cy="1120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個人のセンスをシステムに置き換える。From talent-based to system-based.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2356865"/>
            <a:ext cx="3472586" cy="27660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5586" y="261289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speech-bubble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56" y="271896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5586" y="3307841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1F2937"/>
                </a:solidFill>
                <a:latin typeface="Hiragino Sans W6"/>
                <a:ea typeface="Hiragino Sans W6"/>
              </a:rPr>
              <a:t>共通言語 / Common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3774185"/>
            <a:ext cx="2960522" cy="1120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Paper Card・Inquiry Cycle。ラボメンバー全員の共通言語を持つ。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356865"/>
            <a:ext cx="3472586" cy="27660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628" y="261289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redo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699" y="2718968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7628" y="3307841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>
                <a:solidFill>
                  <a:srgbClr val="1F2937"/>
                </a:solidFill>
                <a:latin typeface="Hiragino Sans W6"/>
                <a:ea typeface="Hiragino Sans W6"/>
              </a:rPr>
              <a:t>再現性 / Reproducibility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3774185"/>
            <a:ext cx="2960522" cy="1120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誰でも高い品質の成果を再現できる。Anyone can achieve quality.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87037" y="6108192"/>
            <a:ext cx="381762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87037" y="6108192"/>
            <a:ext cx="381762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目指すのは「圧倒的な再現性」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10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論文は成果ではない。
「誤差」を受け取るための媒体である。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Day 1のゴール：研究への姿勢を揺らす — 「ズレ」を許容し、更新し続ける責任を受け取る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11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Are you ready to update?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オリエンテーションの全体構成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DAY 1：Soul / 思想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Philosophy — 哲学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4558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Expectations — 期待値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43712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429768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Responsibility — 覚悟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DAY 2：Action / 実践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Implementation — 実装</a:t>
            </a:r>
          </a:p>
        </p:txBody>
      </p:sp>
      <p:sp>
        <p:nvSpPr>
          <p:cNvPr id="20" name="Oval 19"/>
          <p:cNvSpPr/>
          <p:nvPr/>
        </p:nvSpPr>
        <p:spPr>
          <a:xfrm>
            <a:off x="6571335" y="354558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9079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Tools — 行動</a:t>
            </a:r>
          </a:p>
        </p:txBody>
      </p:sp>
      <p:sp>
        <p:nvSpPr>
          <p:cNvPr id="22" name="Oval 21"/>
          <p:cNvSpPr/>
          <p:nvPr/>
        </p:nvSpPr>
        <p:spPr>
          <a:xfrm>
            <a:off x="6571335" y="443712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9079" y="429768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Practice — 再現性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6952" y="6108192"/>
            <a:ext cx="517779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6952" y="6108192"/>
            <a:ext cx="517779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混ぜると薄まる。今日はまず、思想から入る。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12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Hiragino Sans W8"/>
                <a:ea typeface="Hiragino Sans W8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33117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Hiragino Sans W6"/>
                <a:ea typeface="Hiragino Sans W6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>
                <a:solidFill>
                  <a:srgbClr val="1F2937"/>
                </a:solidFill>
                <a:latin typeface="Hiragino Sans W8"/>
                <a:ea typeface="Hiragino Sans W8"/>
              </a:rPr>
              <a:t>研究とは何か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97326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Hiragino Sans W4"/>
                <a:ea typeface="Hiragino Sans W4"/>
              </a:rPr>
              <a:t>What is Research? — 答え集めではなく、探究である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13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探究は「完了」しない。
探究は「更新」され続ける。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Research is Inquiry — 締切がある仕事ではなく、永続する探究サイクル。直線的なゴールはない（Research ≠ linear path）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14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研究は答え集めではない。問いの精緻化である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The Essence of Research</a:t>
            </a:r>
          </a:p>
        </p:txBody>
      </p:sp>
      <p:sp>
        <p:nvSpPr>
          <p:cNvPr id="6" name="Chevron 5"/>
          <p:cNvSpPr/>
          <p:nvPr/>
        </p:nvSpPr>
        <p:spPr>
          <a:xfrm>
            <a:off x="5867247" y="3456432"/>
            <a:ext cx="457200" cy="566928"/>
          </a:xfrm>
          <a:prstGeom prst="chevron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773936"/>
            <a:ext cx="2497836" cy="384048"/>
          </a:xfrm>
          <a:prstGeom prst="roundRect">
            <a:avLst>
              <a:gd name="adj" fmla="val 19047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73936"/>
            <a:ext cx="249783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6"/>
                <a:ea typeface="Hiragino Sans W6"/>
              </a:rPr>
              <a:t>✕ Collecting answers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72592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59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49631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答えを積み上げる — Answer Pile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72414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241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659632"/>
            <a:ext cx="4052163" cy="4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最終答えを目指す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5907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0227" y="1773936"/>
            <a:ext cx="2579446" cy="384048"/>
          </a:xfrm>
          <a:prstGeom prst="roundRect">
            <a:avLst>
              <a:gd name="adj" fmla="val 19047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0227" y="1773936"/>
            <a:ext cx="257944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Hiragino Sans W6"/>
                <a:ea typeface="Hiragino Sans W6"/>
              </a:rPr>
              <a:t>○ Refining questions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868515" y="272592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77075" y="27259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7699" y="249631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問いを研ぎ澄ます — </a:t>
            </a:r>
            <a:r>
              <a:rPr sz="2000">
                <a:solidFill>
                  <a:srgbClr val="9C8545"/>
                </a:solidFill>
                <a:latin typeface="Hiragino Sans W6"/>
                <a:ea typeface="Hiragino Sans W6"/>
              </a:rPr>
              <a:t>Refined Question</a:t>
            </a:r>
          </a:p>
        </p:txBody>
      </p:sp>
      <p:sp>
        <p:nvSpPr>
          <p:cNvPr id="22" name="Oval 21"/>
          <p:cNvSpPr/>
          <p:nvPr/>
        </p:nvSpPr>
        <p:spPr>
          <a:xfrm>
            <a:off x="6868515" y="3889247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7075" y="3889247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7699" y="365963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より精緻な、より良く枠づけられた問いへ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4107" y="6108192"/>
            <a:ext cx="498348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4107" y="6108192"/>
            <a:ext cx="498348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ゴールは最終答えではなく、より精緻な問い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15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「疑念」を「信念」に変えるプロセス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Inquiry: From Doubt to Belief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Doubt / 疑念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違和感 — "Something feels off…"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Inquiry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Question → Hypothesis → Test を回し続ける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Belief / 信念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確率的・暫定的・更新可能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4413" y="6108192"/>
            <a:ext cx="4662868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4413" y="6108192"/>
            <a:ext cx="4662868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Inquiry Cycle ↺ — 問いを回し続ける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16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Inquiry Cycle：更新こそ本質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Updating is the essence — "Theory ≠ Observation"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1732422" cy="3154680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14267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2827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50">
                <a:solidFill>
                  <a:srgbClr val="1F2937"/>
                </a:solidFill>
                <a:latin typeface="Hiragino Sans W6"/>
                <a:ea typeface="Hiragino Sans W6"/>
              </a:rPr>
              <a:t>ズレ・違和感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14032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misalignment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2509662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48574" y="2162556"/>
            <a:ext cx="1732422" cy="3154680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95329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3889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5734" y="3031235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3166" y="3698748"/>
            <a:ext cx="14032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問い</a:t>
            </a:r>
          </a:p>
        </p:txBody>
      </p:sp>
      <p:sp>
        <p:nvSpPr>
          <p:cNvPr id="17" name="Chevron 16"/>
          <p:cNvSpPr/>
          <p:nvPr/>
        </p:nvSpPr>
        <p:spPr>
          <a:xfrm>
            <a:off x="4790724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29636" y="2162556"/>
            <a:ext cx="1732422" cy="3154680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6796" y="3031235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Hypothesis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228" y="3698748"/>
            <a:ext cx="14032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仮説</a:t>
            </a:r>
          </a:p>
        </p:txBody>
      </p:sp>
      <p:sp>
        <p:nvSpPr>
          <p:cNvPr id="23" name="Chevron 22"/>
          <p:cNvSpPr/>
          <p:nvPr/>
        </p:nvSpPr>
        <p:spPr>
          <a:xfrm>
            <a:off x="7071786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10698" y="2162556"/>
            <a:ext cx="1732422" cy="3154680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57453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6013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7858" y="3031235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5290" y="3698748"/>
            <a:ext cx="14032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検証 — iterate</a:t>
            </a:r>
          </a:p>
        </p:txBody>
      </p:sp>
      <p:sp>
        <p:nvSpPr>
          <p:cNvPr id="29" name="Chevron 28"/>
          <p:cNvSpPr/>
          <p:nvPr/>
        </p:nvSpPr>
        <p:spPr>
          <a:xfrm>
            <a:off x="9352848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91760" y="2162556"/>
            <a:ext cx="1732422" cy="3154680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38516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47076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8920" y="3031235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Belief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352" y="3698748"/>
            <a:ext cx="14032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暫定的信念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89321" y="6108192"/>
            <a:ext cx="8413051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89321" y="6108192"/>
            <a:ext cx="8413051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Provisional Belief — always open to revision（常に更新に開かれている）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17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ズレが始まり — ズレが問いを生む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Mismatch as a Beginning — The gap is the starting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観測 ≠ 理解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Observation ≠ Understanding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4558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観測と理解のズレが問いを生む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理想 ≠ 現実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Ideal ≠ Reality</a:t>
            </a:r>
          </a:p>
        </p:txBody>
      </p:sp>
      <p:sp>
        <p:nvSpPr>
          <p:cNvPr id="18" name="Oval 17"/>
          <p:cNvSpPr/>
          <p:nvPr/>
        </p:nvSpPr>
        <p:spPr>
          <a:xfrm>
            <a:off x="6571335" y="354558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理想と現実のズレが問いを生む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92031" y="6108192"/>
            <a:ext cx="6207633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2031" y="6108192"/>
            <a:ext cx="6207633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GAP → Inquiry starts here — ズレこそ探究の出発点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18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認知も同じ構造 — 脳も誤差で自分を更新する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Cognition and Inquiry — The brain works the same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Prediction / 予測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脳は世界を予測する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Error / 誤差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予測と観測のズレを見つける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Update / 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自分自身を更新する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97372" y="6108192"/>
            <a:ext cx="7596949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97372" y="6108192"/>
            <a:ext cx="7596949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認知とInquiryは同じ構造を持つ — 自由エネルギー原理（K. Friston）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19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脳は予測誤差（ズレ）を最小化しようとする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自由エネルギー原理（直感版）— 誤差が大きい → 不快感 → 行動・更新 ／ 誤差が小さい → 安定した信念。更新の先に精緻化された信念がある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20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Beliefは「正しさ」ではない。確率である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What is a Belief? — Probability, not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tim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852318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常に暫定的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Always provisional — 現時点の最良推定にすぎない。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5586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redo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56" y="285231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5586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常に更新可能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Always updatable — 新しい証拠で書き換えられる。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628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bar-chart-th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699" y="2852318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7628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証拠で強さが変わる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Strength varies with evidence — 仮説空間の中の確率分布。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14307" y="6108192"/>
            <a:ext cx="6363081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4307" y="6108192"/>
            <a:ext cx="6363081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Most probable belief — 現時点の最良推定を持ち続ける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21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論文は、問いと信念を固定する媒体である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「最終答え」ではなく「現時点の最良信念のスナップショット」— Doubt → Inquiry → Paper（Fixed Belief）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22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固定すると何が起こるか — なぜ出版するのか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Consequences of Fixing — Why publishing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信念の固定 — "This is our current best belief."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Critique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批判可能になる — 査読・検証が可能になる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Next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次の探究へ — 論文が次の問いを生む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1398" y="6108192"/>
            <a:ext cx="7188898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01398" y="6108192"/>
            <a:ext cx="7188898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Each paper opens new inquiry cycles — 論文が次の問いを生む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23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論文とは、確率的信念を
公共空間に提出すること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Inquiry as Responsibility — 研究は終わらない。更新し続ける。"A paper is a medium to receive Feedback &amp; Error."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24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Hiragino Sans W8"/>
                <a:ea typeface="Hiragino Sans W8"/>
              </a:rP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33117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Hiragino Sans W6"/>
                <a:ea typeface="Hiragino Sans W6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>
                <a:solidFill>
                  <a:srgbClr val="1F2937"/>
                </a:solidFill>
                <a:latin typeface="Hiragino Sans W8"/>
                <a:ea typeface="Hiragino Sans W8"/>
              </a:rPr>
              <a:t>研究は設計で進める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97326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Hiragino Sans W4"/>
                <a:ea typeface="Hiragino Sans W4"/>
              </a:rPr>
              <a:t>Research as Design — 研究が止まる理由は能力ではない。順番と構造の欠如である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25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止まる原因はデータ不足ではない。
方向性の欠如である。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Research Stagnation — データは増える。解析も進む。でも、何を示したいのかが曖昧なまま（問い不在）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26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失敗パターン：データ先行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Failure Pattern: Data-First — Start with data, hope meaning emerges later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とりあえず実験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🧪 まず手を動かす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とりあえず解析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📊 出たデータを解析する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あとで意味を考える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❓ 方向なき探索 — 迷走のループ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92727" y="6108192"/>
            <a:ext cx="420624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2727" y="6108192"/>
            <a:ext cx="420624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これは設計ではない。探索の迷走。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27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正しい順番：Framingが研究全体の設計図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The Correct Order — Order is everything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2302687" cy="315468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99399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7959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0283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197350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アイデア</a:t>
            </a:r>
          </a:p>
        </p:txBody>
      </p:sp>
      <p:sp>
        <p:nvSpPr>
          <p:cNvPr id="11" name="Chevron 10"/>
          <p:cNvSpPr/>
          <p:nvPr/>
        </p:nvSpPr>
        <p:spPr>
          <a:xfrm>
            <a:off x="3079927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18839" y="2162556"/>
            <a:ext cx="2302687" cy="315468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50727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9287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5999" y="3031235"/>
            <a:ext cx="20283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Framing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3431" y="3698748"/>
            <a:ext cx="197350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構造化 — KEY STEP。すべてはここから決まる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5931255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0167" y="2162556"/>
            <a:ext cx="2302687" cy="315468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02055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0615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3031235"/>
            <a:ext cx="20283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Figures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759" y="3698748"/>
            <a:ext cx="197350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図の設計</a:t>
            </a:r>
          </a:p>
        </p:txBody>
      </p:sp>
      <p:sp>
        <p:nvSpPr>
          <p:cNvPr id="23" name="Chevron 22"/>
          <p:cNvSpPr/>
          <p:nvPr/>
        </p:nvSpPr>
        <p:spPr>
          <a:xfrm>
            <a:off x="8782583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1495" y="2162556"/>
            <a:ext cx="2302687" cy="315468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53383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61943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8655" y="3031235"/>
            <a:ext cx="20283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6087" y="3698748"/>
            <a:ext cx="197350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執筆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22842" y="6108192"/>
            <a:ext cx="6946011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22842" y="6108192"/>
            <a:ext cx="6946011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順番がすべて — Everything downstream depends on Framing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28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Framingとは何か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What is Framing? — 書くのは3つだけ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972055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72055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925193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問いを1文で書く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290953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Core Question in 1 sentence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047999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502152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502152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3455288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先行研究との差分を明示する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3821049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"Compared to X, we Y."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4578095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5032248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032248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4985384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貢献を最大3点に絞る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5351145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Key contributions (3 max)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45602" y="6108192"/>
            <a:ext cx="8500491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45602" y="6108192"/>
            <a:ext cx="8500491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結果を書くな。手法を書くな。— Don't write results. Don't write methods.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29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Framingが弱いと、全て崩れる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Weak framing = Total collapse</a:t>
            </a:r>
          </a:p>
        </p:txBody>
      </p:sp>
      <p:sp>
        <p:nvSpPr>
          <p:cNvPr id="6" name="Chevron 5"/>
          <p:cNvSpPr/>
          <p:nvPr/>
        </p:nvSpPr>
        <p:spPr>
          <a:xfrm>
            <a:off x="5867247" y="3456432"/>
            <a:ext cx="457200" cy="566928"/>
          </a:xfrm>
          <a:prstGeom prst="chevron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773936"/>
            <a:ext cx="1609191" cy="384048"/>
          </a:xfrm>
          <a:prstGeom prst="roundRect">
            <a:avLst>
              <a:gd name="adj" fmla="val 19047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73936"/>
            <a:ext cx="1609191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6"/>
                <a:ea typeface="Hiragino Sans W6"/>
              </a:rPr>
              <a:t>✕ 曖昧な問い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72592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59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49631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"We studied X and found something interesting..."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889247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89247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65963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何が新しいのか、条件は何かが不明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5907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0227" y="1773936"/>
            <a:ext cx="2234869" cy="384048"/>
          </a:xfrm>
          <a:prstGeom prst="roundRect">
            <a:avLst>
              <a:gd name="adj" fmla="val 19047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0227" y="1773936"/>
            <a:ext cx="2234869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Hiragino Sans W6"/>
                <a:ea typeface="Hiragino Sans W6"/>
              </a:rPr>
              <a:t>○ 構造化された問い</a:t>
            </a:r>
          </a:p>
        </p:txBody>
      </p:sp>
      <p:sp>
        <p:nvSpPr>
          <p:cNvPr id="19" name="Oval 18"/>
          <p:cNvSpPr/>
          <p:nvPr/>
        </p:nvSpPr>
        <p:spPr>
          <a:xfrm>
            <a:off x="6868515" y="289102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77075" y="28910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7699" y="2496312"/>
            <a:ext cx="4052163" cy="108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"Compared to prior method X, our approach Y achieves </a:t>
            </a:r>
            <a:r>
              <a:rPr sz="2000">
                <a:solidFill>
                  <a:srgbClr val="9C8545"/>
                </a:solidFill>
                <a:latin typeface="Hiragino Sans W6"/>
                <a:ea typeface="Hiragino Sans W6"/>
              </a:rPr>
              <a:t>Z</a:t>
            </a: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 under condition C."</a:t>
            </a:r>
          </a:p>
        </p:txBody>
      </p:sp>
      <p:sp>
        <p:nvSpPr>
          <p:cNvPr id="22" name="Oval 21"/>
          <p:cNvSpPr/>
          <p:nvPr/>
        </p:nvSpPr>
        <p:spPr>
          <a:xfrm>
            <a:off x="6868515" y="4054347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7075" y="4054347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7699" y="3989832"/>
            <a:ext cx="4052163" cy="4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差分・成果・条件が1文で明確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66077" y="6108192"/>
            <a:ext cx="5459539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6077" y="6108192"/>
            <a:ext cx="5459539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問いは「Compared to X, we Y」の型で言い切る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30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良い研究の問いは、必ず「型」に収まる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Question Archetypes — Every good research question fits a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517904"/>
            <a:ext cx="2560320" cy="475488"/>
          </a:xfrm>
          <a:prstGeom prst="rect">
            <a:avLst/>
          </a:prstGeom>
          <a:solidFill>
            <a:srgbClr val="356F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17904"/>
            <a:ext cx="256032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Hiragino Sans W6"/>
                <a:ea typeface="Hiragino Sans W6"/>
              </a:rPr>
              <a:t>問いの型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1517904"/>
            <a:ext cx="8296351" cy="475488"/>
          </a:xfrm>
          <a:prstGeom prst="rect">
            <a:avLst/>
          </a:prstGeom>
          <a:solidFill>
            <a:srgbClr val="207A9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1517904"/>
            <a:ext cx="8296351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Hiragino Sans W6"/>
                <a:ea typeface="Hiragino Sans W6"/>
              </a:rPr>
              <a:t>問いの形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993392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93392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>
                <a:solidFill>
                  <a:srgbClr val="1F2937"/>
                </a:solidFill>
                <a:latin typeface="Hiragino Sans W6"/>
                <a:ea typeface="Hiragino Sans W6"/>
              </a:rPr>
              <a:t>推定型 / Estimation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1993392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993392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How much / many?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2560320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560320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1F2937"/>
                </a:solidFill>
                <a:latin typeface="Hiragino Sans W6"/>
                <a:ea typeface="Hiragino Sans W6"/>
              </a:rPr>
              <a:t>機構型 / Mechanism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2560320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560320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How / why does it work?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3127248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127248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>
                <a:solidFill>
                  <a:srgbClr val="1F2937"/>
                </a:solidFill>
                <a:latin typeface="Hiragino Sans W6"/>
                <a:ea typeface="Hiragino Sans W6"/>
              </a:rPr>
              <a:t>妥当性型 / Validity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7832" y="3127248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127248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Does method X work?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" y="3694176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694176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>
                <a:solidFill>
                  <a:srgbClr val="1F2937"/>
                </a:solidFill>
                <a:latin typeface="Hiragino Sans W6"/>
                <a:ea typeface="Hiragino Sans W6"/>
              </a:rPr>
              <a:t>不確実型 / Uncertainty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27832" y="3694176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694176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What are the limits?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" y="4261104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261104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1F2937"/>
                </a:solidFill>
                <a:latin typeface="Hiragino Sans W6"/>
                <a:ea typeface="Hiragino Sans W6"/>
              </a:rPr>
              <a:t>スケール型 / Scale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4261104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4261104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Does it scale?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" y="4828032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828032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>
                <a:solidFill>
                  <a:srgbClr val="1F2937"/>
                </a:solidFill>
                <a:latin typeface="Hiragino Sans W6"/>
                <a:ea typeface="Hiragino Sans W6"/>
              </a:rPr>
              <a:t>動態型 / Dynamics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27832" y="4828032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4828032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How does it change?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" y="5394960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5394960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設計型 / Design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27832" y="5394960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5394960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How should we build X?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11113" y="6108192"/>
            <a:ext cx="7169467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1113" y="6108192"/>
            <a:ext cx="7169467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型を選べない問いは曖昧 — Vague questions lack an archetype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31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問いが決まると、必要なデータが決まる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Research as Design — Question determines everything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17904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FFFFFF"/>
                </a:solidFill>
                <a:latin typeface="Hiragino Sans W6"/>
                <a:ea typeface="Hiragino Sans W6"/>
              </a:rPr>
              <a:t>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1517904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517904"/>
            <a:ext cx="8579815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問い（確定）— 構造がデータを呼び込む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220724" y="2859024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3078480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078480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Hiragino Sans W6"/>
                <a:ea typeface="Hiragino Sans W6"/>
              </a:rPr>
              <a:t>Required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9152" y="3078480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078480"/>
            <a:ext cx="8579815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必要なデータ — 問いから逆算される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220724" y="4419600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4639056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C6A44A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639056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>
                <a:solidFill>
                  <a:srgbClr val="FFFFFF"/>
                </a:solidFill>
                <a:latin typeface="Hiragino Sans W6"/>
                <a:ea typeface="Hiragino Sans W6"/>
              </a:rPr>
              <a:t>Method / Experiment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9152" y="4639056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989576"/>
            <a:ext cx="8579815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手法・実験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355336"/>
            <a:ext cx="8579815" cy="569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データは後 — Data comes later.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86825" y="6108192"/>
            <a:ext cx="7218045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6825" y="6108192"/>
            <a:ext cx="7218045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✕ Data → Hope for meaning ／ ○ Question → Required Data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32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1図＝1主張 — 図は説明ではない。主張そのものである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Figures are arguments, not illustrations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5867247" y="3456432"/>
            <a:ext cx="457200" cy="566928"/>
          </a:xfrm>
          <a:prstGeom prst="chevron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773936"/>
            <a:ext cx="1188720" cy="384048"/>
          </a:xfrm>
          <a:prstGeom prst="roundRect">
            <a:avLst>
              <a:gd name="adj" fmla="val 19047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73936"/>
            <a:ext cx="1188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6"/>
                <a:ea typeface="Hiragino Sans W6"/>
              </a:rPr>
              <a:t>BAD ✕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72592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59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49631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1つの図に主張Aと主張Bを詰め込む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889247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89247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65963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何を読み取ればいいのか分からない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5907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0227" y="1773936"/>
            <a:ext cx="1188720" cy="384048"/>
          </a:xfrm>
          <a:prstGeom prst="roundRect">
            <a:avLst>
              <a:gd name="adj" fmla="val 19047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0227" y="1773936"/>
            <a:ext cx="1188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Hiragino Sans W6"/>
                <a:ea typeface="Hiragino Sans W6"/>
              </a:rPr>
              <a:t>GOOD ○</a:t>
            </a:r>
          </a:p>
        </p:txBody>
      </p:sp>
      <p:sp>
        <p:nvSpPr>
          <p:cNvPr id="19" name="Oval 18"/>
          <p:cNvSpPr/>
          <p:nvPr/>
        </p:nvSpPr>
        <p:spPr>
          <a:xfrm>
            <a:off x="6868515" y="256082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77075" y="25608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7699" y="2496312"/>
            <a:ext cx="4052163" cy="4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1つの図に主張は</a:t>
            </a:r>
            <a:r>
              <a:rPr sz="2000">
                <a:solidFill>
                  <a:srgbClr val="9C8545"/>
                </a:solidFill>
                <a:latin typeface="Hiragino Sans W6"/>
                <a:ea typeface="Hiragino Sans W6"/>
              </a:rPr>
              <a:t>1つ</a:t>
            </a:r>
          </a:p>
        </p:txBody>
      </p:sp>
      <p:sp>
        <p:nvSpPr>
          <p:cNvPr id="22" name="Oval 21"/>
          <p:cNvSpPr/>
          <p:nvPr/>
        </p:nvSpPr>
        <p:spPr>
          <a:xfrm>
            <a:off x="6868515" y="355904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7075" y="35590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Hiragino Sans W6"/>
                <a:ea typeface="Hiragino Sans W6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7699" y="332943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主張Bは次の図へ — Claim B → next figure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13474" y="6108192"/>
            <a:ext cx="5964745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13474" y="6108192"/>
            <a:ext cx="5964745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論文は図で読む — Read papers via figures first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33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構造が生産性を決める — 能力差ではない。構造差である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Structure Defines Productivity — It's architecture, not 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High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Framing → Figures → Draft → Submit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888485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749039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設計の質が成果を決める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Low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Data → ??? → Repeat</a:t>
            </a:r>
          </a:p>
        </p:txBody>
      </p:sp>
      <p:sp>
        <p:nvSpPr>
          <p:cNvPr id="18" name="Oval 17"/>
          <p:cNvSpPr/>
          <p:nvPr/>
        </p:nvSpPr>
        <p:spPr>
          <a:xfrm>
            <a:off x="6571335" y="354558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同じ時間でも成果が出ない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5971" y="6108192"/>
            <a:ext cx="7159752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5971" y="6108192"/>
            <a:ext cx="7159752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同じ時間投資でも、構造が違えば成果が変わる — OSの必要性に回帰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34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Paper Card：構造を固定する装置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Fix the Structure — 不確かなアイデア（Doubt）を確信ある設計（Belief）へ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666036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66036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640605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006365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問いを1文で — 1 sentence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435961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584094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584094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2558662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Compared to X, we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2924422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先行研究との差分の明示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354019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502152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502152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3476720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Key Contributions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3842480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貢献は3点以内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272076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" y="4420209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420209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4394777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Main Figures (sketch)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4760537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図の配置スケッチ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" y="5190134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" y="5338267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5338267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5312835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Contribution Statement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5064" y="5678595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貢献の要約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15487" y="6108192"/>
            <a:ext cx="576072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5487" y="6108192"/>
            <a:ext cx="576072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Structure before data — No Card → No Paper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35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Hiragino Sans W8"/>
                <a:ea typeface="Hiragino Sans W8"/>
              </a:rP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33117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Hiragino Sans W6"/>
                <a:ea typeface="Hiragino Sans W6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>
                <a:solidFill>
                  <a:srgbClr val="1F2937"/>
                </a:solidFill>
                <a:latin typeface="Hiragino Sans W8"/>
                <a:ea typeface="Hiragino Sans W8"/>
              </a:rPr>
              <a:t>論文タイプと責任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97326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Hiragino Sans W4"/>
                <a:ea typeface="Hiragino Sans W4"/>
              </a:rPr>
              <a:t>Paper Types &amp; Responsibilities — 信念の形式は複数ある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36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論文タイプは「格」ではない。
信念のスコープが違うだけ。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Original / Review / Technical / Short — 横並び・上下関係なし。Same "belief," different zoom levels.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37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4つの基本形式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Four Basic Formats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Original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新しい主張 — New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52463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7951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問いの再設計 — Reframing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Technical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方法の提示 — Methodological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1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2463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1023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7951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Short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限定的主張 — Limited Claim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6234" y="6108192"/>
            <a:ext cx="7519225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6234" y="6108192"/>
            <a:ext cx="7519225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形式は道具であって序列ではない — Formats are tools, not status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38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発表の場の違い — 片方の軸はスピード、片方は厳密さ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Venues of Publication — Speed vs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speech-bubbl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852318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Conference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議論を始める — Start a discussion。スピード重視。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5586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fil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56" y="285231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5586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Journal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厳密に検証する — Rigorous verification。厳密さ重視。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628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school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699" y="2852318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7628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統合された説明責任 — Integrated accountability。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95572" y="6108192"/>
            <a:ext cx="440055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95572" y="6108192"/>
            <a:ext cx="440055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場によって役割が違う。使い分ける。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39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Thesisは内部責任。
Journal は外部検証。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Why a Journal is Necessary — Inquiryは公共空間で完結する。Lab → Scientific Community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40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研究フェーズによって、出す論文タイプは変わる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Research Phase and Paper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探索 / Exploration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Short・Technical で小さく固定する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安定 / 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Original で新しい主張を出す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>
                <a:solidFill>
                  <a:srgbClr val="1F2937"/>
                </a:solidFill>
                <a:latin typeface="Hiragino Sans W6"/>
                <a:ea typeface="Hiragino Sans W6"/>
              </a:rPr>
              <a:t>軸確立 / Establishment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Review で問いを再設計する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72116" y="6108192"/>
            <a:ext cx="4847463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2116" y="6108192"/>
            <a:ext cx="4847463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博士は軸を持つ。その一つの形がReview。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41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Thesisは枚数ではない。
一貫した信念体系である。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A thesis is a coherent belief system — Paper 1 → Paper 2 → Paper 3 をつなぐ Research Arc。詳細は Quarter Plan で説明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42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形式から選ぶな。問いから選べ。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Don't Choose by Format — Choose from your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問い — MAP（地図）を持つ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形式 — 問いに合う形式を選ぶ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発表の場 — 最後に場を決める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6846" y="6108192"/>
            <a:ext cx="6878002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6846" y="6108192"/>
            <a:ext cx="6878002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Question → Format → Venue — 順番が逆だと、だいたい迷う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43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倫理とは、信念を出す資格の条件である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What is Research Ethics? — Ethics as the Foundation of Belief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shield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852318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Data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データの誠実さ・再現性 — Reproducibility。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5586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copyright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56" y="285231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5586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Attribution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帰属・引用の明示 — 誰の貢献かを正しく示す。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628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glasses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699" y="2852318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7628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透明性 — 検証できる形で開示する。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05907" y="6108192"/>
            <a:ext cx="8179879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05907" y="6108192"/>
            <a:ext cx="8179879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論文は「検証可能な信念」を倫理的に提出する行為 — Claim・Ethics・Verify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44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Hiragino Sans W8"/>
                <a:ea typeface="Hiragino Sans W8"/>
              </a:rP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33117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Hiragino Sans W6"/>
                <a:ea typeface="Hiragino Sans W6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>
                <a:solidFill>
                  <a:srgbClr val="1F2937"/>
                </a:solidFill>
                <a:latin typeface="Hiragino Sans W8"/>
                <a:ea typeface="Hiragino Sans W8"/>
              </a:rPr>
              <a:t>研究活動の5階層構造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97326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Hiragino Sans W4"/>
                <a:ea typeface="Hiragino Sans W4"/>
              </a:rPr>
              <a:t>5 Layer Structure — Strategic Organization of Lab Activities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45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研究活動は5つの階層で設計されている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The 5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666036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66036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640605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Lab Forum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006365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価値を磨く場 — Value Refinement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435961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584094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584094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2558662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Team 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2924422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判断の場 — Tactical Decision 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354019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502152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502152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3476720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Student 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3842480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自律の訓練場 — Autonomy Training 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272076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" y="4420209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420209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4394777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Individual Meeting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4760537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軸合わせの場 — Identity Alignment 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" y="5190134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" y="5338267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5338267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5312835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Individual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5064" y="5678595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研究が進む唯一の場所 — The Only Place Research Moves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89882" y="6108192"/>
            <a:ext cx="401193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89882" y="6108192"/>
            <a:ext cx="401193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それぞれ役割が違う。混ぜない。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46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4つのミーティング、4つの役割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Layers ① – 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1106424"/>
          </a:xfrm>
          <a:prstGeom prst="roundRect">
            <a:avLst>
              <a:gd name="adj" fmla="val 103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1805940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idea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1912010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1786509"/>
            <a:ext cx="953079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① Lab Forum — 研究のWhyを磨く場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52269"/>
            <a:ext cx="953079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価値と位置づけを磨く。多様な視点からの建設的懐疑と哲学的深掘り。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770632"/>
            <a:ext cx="10856671" cy="1106424"/>
          </a:xfrm>
          <a:prstGeom prst="roundRect">
            <a:avLst>
              <a:gd name="adj" fmla="val 103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" y="305866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target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316473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039237"/>
            <a:ext cx="953079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② Team Meeting — 研究を前に進める判断の場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404997"/>
            <a:ext cx="953079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Paper Card → 判断 → 次のアクション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4023360"/>
            <a:ext cx="10856671" cy="1106424"/>
          </a:xfrm>
          <a:prstGeom prst="roundRect">
            <a:avLst>
              <a:gd name="adj" fmla="val 103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" y="4311396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networking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" y="4417466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1640" y="4291965"/>
            <a:ext cx="953079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③ 学生だけの相互作用 — 自律の訓練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657725"/>
            <a:ext cx="953079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技術相談・言語化トレーニング・プレレビュー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5276088"/>
            <a:ext cx="10856671" cy="1106424"/>
          </a:xfrm>
          <a:prstGeom prst="roundRect">
            <a:avLst>
              <a:gd name="adj" fmla="val 103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544" y="5564124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monstr-user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" y="5670194"/>
            <a:ext cx="318211" cy="3182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91640" y="5544693"/>
            <a:ext cx="953079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④ Individual Meeting — 研究軸の確認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910453"/>
            <a:ext cx="953079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成長方向の確認・キャリア設計。技術判断や原稿の細部修正には</a:t>
            </a:r>
            <a:r>
              <a:rPr sz="1400">
                <a:solidFill>
                  <a:srgbClr val="9C8545"/>
                </a:solidFill>
                <a:latin typeface="Hiragino Sans W6"/>
                <a:ea typeface="Hiragino Sans W6"/>
              </a:rPr>
              <a:t>使わない</a:t>
            </a: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47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判断の場と、壁打ちの場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Decisions vs Sparring — Idea → Framing → Figures → Draft →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Team Meeting =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GO / NO-GO を決める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4558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次のフェーズに進むか、戻るかの判断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Lab Forum = Sparring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壁打ち：問い・立場・表現を壊して磨く</a:t>
            </a:r>
          </a:p>
        </p:txBody>
      </p:sp>
      <p:sp>
        <p:nvSpPr>
          <p:cNvPr id="18" name="Oval 17"/>
          <p:cNvSpPr/>
          <p:nvPr/>
        </p:nvSpPr>
        <p:spPr>
          <a:xfrm>
            <a:off x="6571335" y="3888485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3749039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結論を出す場ではない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4107" y="6108192"/>
            <a:ext cx="498348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4107" y="6108192"/>
            <a:ext cx="498348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フェーズを進めるのは判断、磨くのは壁打ち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48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研究はミーティングでは進まない。
個人作業で進む。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⑤ Individual Work — 必須習慣：Daily Research Log ／ Weekly Paper Card ／ Monthly Core Question。Meeting is for alignment. Work is for progress.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49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Core Principle — 4つの場の使い分け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何のための場かを、常に意識する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Team Meeting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戦術 — Tactical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52463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7951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Lab Forum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価値 — Value Refinement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Individual Meeting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軸 — Identity Alignment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1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2463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1023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7951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Individual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前進 — Progress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2336" y="6108192"/>
            <a:ext cx="5887021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2336" y="6108192"/>
            <a:ext cx="5887021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場の目的を混ぜない — それが5階層構造の運用ルール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50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Hiragino Sans W8"/>
                <a:ea typeface="Hiragino Sans W8"/>
              </a:rP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33117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Hiragino Sans W6"/>
                <a:ea typeface="Hiragino Sans W6"/>
              </a:rP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>
                <a:solidFill>
                  <a:srgbClr val="1F2937"/>
                </a:solidFill>
                <a:latin typeface="Hiragino Sans W8"/>
                <a:ea typeface="Hiragino Sans W8"/>
              </a:rPr>
              <a:t>学年別の責任と計画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97326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Hiragino Sans W4"/>
                <a:ea typeface="Hiragino Sans W4"/>
              </a:rPr>
              <a:t>Academic Responsibility &amp; Grade-Specific Goals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51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責任が増えるほど、自由も増える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責任の二軸モデル — 横軸：研究責任（Research Responsibility）／ 縦軸：共同体責任（Community Responsibility）。B4 → M → PhD と右上へ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52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学年別の責任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B4 / Master / PhD — それぞれの責任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356865"/>
            <a:ext cx="3472586" cy="27660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261289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rocket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718968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" y="3307841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B4：経験と誠実さ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74185"/>
            <a:ext cx="2960522" cy="1120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研究を1周回す。結果も苦労も誠実に共有する。完璧はいらない。回すことが責任。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2356865"/>
            <a:ext cx="3472586" cy="27660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5586" y="261289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flag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56" y="271896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5586" y="3307841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修士：完走と後輩支援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3774185"/>
            <a:ext cx="2960522" cy="1120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Original 1本投稿。B4を支え導く。完走する責任。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356865"/>
            <a:ext cx="3472586" cy="27660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628" y="261289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award-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699" y="2718968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7628" y="3307841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博士：軸の定義と文化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3774185"/>
            <a:ext cx="2960522" cy="1120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独自の研究軸を定義する。ラボの文化を守り育てる。軸確立の一つの形がReview。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3232" y="6108192"/>
            <a:ext cx="5265229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3232" y="6108192"/>
            <a:ext cx="5265229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More responsibility brings more freedom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53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期待値は明示する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Clear Expectations — This is NOT optional. This is the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3472586" cy="4443983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28941"/>
            <a:ext cx="310682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6"/>
                <a:ea typeface="Hiragino Sans W6"/>
              </a:rPr>
              <a:t>B4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028858"/>
            <a:ext cx="3106826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>
                <a:solidFill>
                  <a:srgbClr val="9C8545"/>
                </a:solidFill>
                <a:latin typeface="Hiragino Sans W8"/>
                <a:ea typeface="Hiragino Sans W8"/>
              </a:rPr>
              <a:t>1周完走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9485" y="4273174"/>
            <a:ext cx="548640" cy="27432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4628692"/>
            <a:ext cx="2960522" cy="1155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研究サイクルを1周、経験しきる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1517904"/>
            <a:ext cx="3472586" cy="4443983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2434" y="2228941"/>
            <a:ext cx="310682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6"/>
                <a:ea typeface="Hiragino Sans W6"/>
              </a:rPr>
              <a:t>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2434" y="3028858"/>
            <a:ext cx="3106826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650">
                <a:solidFill>
                  <a:srgbClr val="9C8545"/>
                </a:solidFill>
                <a:latin typeface="Hiragino Sans W8"/>
                <a:ea typeface="Hiragino Sans W8"/>
              </a:rPr>
              <a:t>Original 1本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21527" y="4273174"/>
            <a:ext cx="548640" cy="27432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5586" y="4628692"/>
            <a:ext cx="2960522" cy="1155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筆頭論文を1本投稿する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1517904"/>
            <a:ext cx="3472586" cy="4443983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4476" y="2228941"/>
            <a:ext cx="310682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6"/>
                <a:ea typeface="Hiragino Sans W6"/>
              </a:rPr>
              <a:t>PhD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4476" y="3028858"/>
            <a:ext cx="3106826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>
                <a:solidFill>
                  <a:srgbClr val="9C8545"/>
                </a:solidFill>
                <a:latin typeface="Hiragino Sans W8"/>
                <a:ea typeface="Hiragino Sans W8"/>
              </a:rPr>
              <a:t>軸 ＋ 文化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13570" y="4273174"/>
            <a:ext cx="548640" cy="27432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7628" y="4628692"/>
            <a:ext cx="2960522" cy="1155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研究軸の定義と、文化の継承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2642" y="6108192"/>
            <a:ext cx="556641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2642" y="6108192"/>
            <a:ext cx="556641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これはオプションではない。ベースラインである。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54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Quarter Plan：進捗報告ではなく、思考構造の可視化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Structural Reflection — 設計は90日単位で行う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何をするか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戦略は四半期（90日）単位で設計する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888485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749039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Research Arc（1年）を Q1〜Q4 に分割する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5122925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4983479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進捗報告ではなく、思考構造の可視化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なぜ90日か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研究は長距離走。設計は短距離で行う</a:t>
            </a:r>
          </a:p>
        </p:txBody>
      </p:sp>
      <p:sp>
        <p:nvSpPr>
          <p:cNvPr id="20" name="Oval 19"/>
          <p:cNvSpPr/>
          <p:nvPr/>
        </p:nvSpPr>
        <p:spPr>
          <a:xfrm>
            <a:off x="6571335" y="354558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9079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B4のゴールは完璧ではなく「1周の経験」</a:t>
            </a:r>
          </a:p>
        </p:txBody>
      </p:sp>
      <p:sp>
        <p:nvSpPr>
          <p:cNvPr id="22" name="Oval 21"/>
          <p:cNvSpPr/>
          <p:nvPr/>
        </p:nvSpPr>
        <p:spPr>
          <a:xfrm>
            <a:off x="6571335" y="478002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9079" y="464058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短い区間なら、構造のズレにすぐ気づける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0871" y="6108192"/>
            <a:ext cx="6469951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60871" y="6108192"/>
            <a:ext cx="6469951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Strategy is quarterly — 長距離走を短距離の設計で走る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55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動く前に、現在地を特定する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Identity Snapshot — YOU ARE HERE。曖昧な現在地では、前進は設計できない。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56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B4の1年：締切からの逆算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>
                <a:solidFill>
                  <a:srgbClr val="5D5D5D"/>
                </a:solidFill>
                <a:latin typeface="Hiragino Sans W4"/>
                <a:ea typeface="Hiragino Sans W4"/>
              </a:rPr>
              <a:t>Back-calculation — 研究だけやっていればいい年ではない。外的イベントが研究を圧迫する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417320" cy="932687"/>
          </a:xfrm>
          <a:prstGeom prst="roundRect">
            <a:avLst>
              <a:gd name="adj" fmla="val 9803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17904"/>
            <a:ext cx="1417320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FFFFFF"/>
                </a:solidFill>
                <a:latin typeface="Hiragino Sans W6"/>
                <a:ea typeface="Hiragino Sans W6"/>
              </a:rPr>
              <a:t>Q1 4-6月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1517904"/>
            <a:ext cx="9165031" cy="932687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517904"/>
            <a:ext cx="8579815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テーマ固定 — カリキュラム（授業）と並走する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220724" y="2468879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2688336"/>
            <a:ext cx="1417320" cy="932687"/>
          </a:xfrm>
          <a:prstGeom prst="roundRect">
            <a:avLst>
              <a:gd name="adj" fmla="val 9803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688336"/>
            <a:ext cx="1417320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FFFFFF"/>
                </a:solidFill>
                <a:latin typeface="Hiragino Sans W6"/>
                <a:ea typeface="Hiragino Sans W6"/>
              </a:rPr>
              <a:t>Q2 7-9月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9152" y="2688336"/>
            <a:ext cx="9165031" cy="932687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688336"/>
            <a:ext cx="8579815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Framing — 院試・就活が研究を圧迫する時期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220724" y="3639312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3858768"/>
            <a:ext cx="1417320" cy="932687"/>
          </a:xfrm>
          <a:prstGeom prst="roundRect">
            <a:avLst>
              <a:gd name="adj" fmla="val 9803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858768"/>
            <a:ext cx="1417320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50">
                <a:solidFill>
                  <a:srgbClr val="FFFFFF"/>
                </a:solidFill>
                <a:latin typeface="Hiragino Sans W6"/>
                <a:ea typeface="Hiragino Sans W6"/>
              </a:rPr>
              <a:t>Q3 10-12月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9152" y="3858768"/>
            <a:ext cx="9165031" cy="932687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3858768"/>
            <a:ext cx="8579815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Figures — 図を確定させる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220724" y="4809743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5029200"/>
            <a:ext cx="1417320" cy="932687"/>
          </a:xfrm>
          <a:prstGeom prst="roundRect">
            <a:avLst>
              <a:gd name="adj" fmla="val 9803"/>
            </a:avLst>
          </a:prstGeom>
          <a:solidFill>
            <a:srgbClr val="C6A44A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029200"/>
            <a:ext cx="1417320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FFFFFF"/>
                </a:solidFill>
                <a:latin typeface="Hiragino Sans W6"/>
                <a:ea typeface="Hiragino Sans W6"/>
              </a:rPr>
              <a:t>Q4 1-2月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59152" y="5029200"/>
            <a:ext cx="9165031" cy="932687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5184648"/>
            <a:ext cx="8579815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卒論まとめ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550407"/>
            <a:ext cx="8579815" cy="374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Thesis 提出 — Research Arc 1周完走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70935" y="6108192"/>
            <a:ext cx="5449824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0935" y="6108192"/>
            <a:ext cx="544982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APR → FEB：外的イベントから逆算して設計する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57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B4の典型的な崩れパターン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B4 Failure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780794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80794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733931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院試で停止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099691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Stalled by Graduate Exams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665476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928365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28365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2881503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詰まって沈黙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3247263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Silence when stuck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813048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4075937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075937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4029074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完成待ちで共有しない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4394834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Waiting for "perfection" to share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960619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" y="5223509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5223509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5176646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全部同時進行で崩壊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5542406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Total collapse from multi-tasking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83844" y="6108192"/>
            <a:ext cx="4624006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3844" y="6108192"/>
            <a:ext cx="4624006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Quarter Plan はこれを防ぐための装置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58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評価は結果ではない。構造的思考の副産物である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Evaluation Criteria — What is evaluated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780794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80794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733931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理解度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099691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Understanding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665476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928365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28365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2881503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論理的発表力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3247263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Logical Presentation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813048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4075937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075937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4029074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質疑応答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4394834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Q&amp;A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960619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" y="5223509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5223509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5176646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資料構造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5542406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Document 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04727" y="6108192"/>
            <a:ext cx="878224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4727" y="6108192"/>
            <a:ext cx="878224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Complete the ARC → Skills will follow — Arcを完走すればスキルは付いてくる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59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修士2年間は「拡張されたArc」である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The Extended Arc — 勝負はM1で決まる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M1：探索と設計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Exploration &amp; Strategy（Design）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888485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749039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Framingに集中する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780025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4640579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M1中盤に「</a:t>
            </a:r>
            <a:r>
              <a:rPr sz="2000">
                <a:solidFill>
                  <a:srgbClr val="9C8545"/>
                </a:solidFill>
                <a:latin typeface="Hiragino Sans W6"/>
                <a:ea typeface="Hiragino Sans W6"/>
              </a:rPr>
              <a:t>Axis fixed</a:t>
            </a: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」— 軸を固定する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M2：収束と完走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Convergence &amp; Completion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71335" y="354558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9079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加速区間 — Acceleration</a:t>
            </a:r>
          </a:p>
        </p:txBody>
      </p:sp>
      <p:sp>
        <p:nvSpPr>
          <p:cNvPr id="22" name="Oval 21"/>
          <p:cNvSpPr/>
          <p:nvPr/>
        </p:nvSpPr>
        <p:spPr>
          <a:xfrm>
            <a:off x="6571335" y="443712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9079" y="429768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M2で焦る人は、M1で設計していない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16668" y="6108192"/>
            <a:ext cx="5158359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6668" y="6108192"/>
            <a:ext cx="5158359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Focus on Framing in M1. Fix your Axis.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60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修士2年目の現実：時間は急に消える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Reality of M2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9月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Draft — 初稿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11月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Mid-term — 中間発表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1月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Deadline — 提出締切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76625" y="6108192"/>
            <a:ext cx="5838444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6625" y="6108192"/>
            <a:ext cx="583844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Time disappears suddenly — だからM1で設計する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61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博士3年間の構造：作る・広げる・統合する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PhD: Axis Construction (3 Years)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17904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50">
                <a:solidFill>
                  <a:srgbClr val="FFFFFF"/>
                </a:solidFill>
                <a:latin typeface="Hiragino Sans W6"/>
                <a:ea typeface="Hiragino Sans W6"/>
              </a:rPr>
              <a:t>D1：軸を作る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1517904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517904"/>
            <a:ext cx="8579815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Axis Construction — Review Paper（仮説の外部化）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220724" y="2859024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3078480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078480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50">
                <a:solidFill>
                  <a:srgbClr val="FFFFFF"/>
                </a:solidFill>
                <a:latin typeface="Hiragino Sans W6"/>
                <a:ea typeface="Hiragino Sans W6"/>
              </a:rPr>
              <a:t>D2：拡張する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9152" y="3078480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078480"/>
            <a:ext cx="8579815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Original Expansion — 手法深化・独立性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220724" y="4419600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4639056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C6A44A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639056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50">
                <a:solidFill>
                  <a:srgbClr val="FFFFFF"/>
                </a:solidFill>
                <a:latin typeface="Hiragino Sans W6"/>
                <a:ea typeface="Hiragino Sans W6"/>
              </a:rPr>
              <a:t>D3：統合する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9152" y="4639056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989576"/>
            <a:ext cx="8579815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Integration &amp; Positioning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355336"/>
            <a:ext cx="8579815" cy="569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Thesis の構造設計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78290" y="6108192"/>
            <a:ext cx="6635115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8290" y="6108192"/>
            <a:ext cx="6635115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"Axis-less PhDs will drift." — 軸がない博士は漂流する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62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Hiragino Sans W8"/>
                <a:ea typeface="Hiragino Sans W8"/>
              </a:rP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33117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Hiragino Sans W6"/>
                <a:ea typeface="Hiragino Sans W6"/>
              </a:rP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>
                <a:solidFill>
                  <a:srgbClr val="1F2937"/>
                </a:solidFill>
                <a:latin typeface="Hiragino Sans W8"/>
                <a:ea typeface="Hiragino Sans W8"/>
              </a:rPr>
              <a:t>必須習慣と文化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97326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Hiragino Sans W4"/>
                <a:ea typeface="Hiragino Sans W4"/>
              </a:rPr>
              <a:t>Research Habits &amp; Culture — 研究は「日常」で進む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63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研究の差は「才能」ではなく「日常の密度」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Essential Habits — 日常を積み重ねるのは、あなた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666036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66036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640605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Research Log &amp; Thinking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006365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毎日 — Every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435961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584094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584094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2558662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Paper Card（Paper Board）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2924422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毎週 — 主張を更新し続ける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354019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502152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502152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3476720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Team Meeting / Lab Forum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3842480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定例 — 判断と壁打ち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272076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" y="4420209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420209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4394777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Individual Meeting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4760537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定期 — 軸の確認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" y="5190134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" y="5338267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5338267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5312835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Quarter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5064" y="5678595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Hiragino Sans W4"/>
                <a:ea typeface="Hiragino Sans W4"/>
              </a:rPr>
              <a:t>90日 — 構造の可視化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70103" y="6108192"/>
            <a:ext cx="5051488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70103" y="6108192"/>
            <a:ext cx="5051488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Research moves through daily practice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64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Research Log と Thinking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What is Research &amp; Thinking Log?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Research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今日、</a:t>
            </a:r>
            <a:r>
              <a:rPr sz="2000">
                <a:solidFill>
                  <a:srgbClr val="9C8545"/>
                </a:solidFill>
                <a:latin typeface="Hiragino Sans W6"/>
                <a:ea typeface="Hiragino Sans W6"/>
              </a:rPr>
              <a:t>何をやったか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4558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Facts — 事実を記録する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Thinking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今日、</a:t>
            </a:r>
            <a:r>
              <a:rPr sz="2000">
                <a:solidFill>
                  <a:srgbClr val="9C8545"/>
                </a:solidFill>
                <a:latin typeface="Hiragino Sans W6"/>
                <a:ea typeface="Hiragino Sans W6"/>
              </a:rPr>
              <a:t>何を考えたか</a:t>
            </a:r>
          </a:p>
        </p:txBody>
      </p:sp>
      <p:sp>
        <p:nvSpPr>
          <p:cNvPr id="18" name="Oval 17"/>
          <p:cNvSpPr/>
          <p:nvPr/>
        </p:nvSpPr>
        <p:spPr>
          <a:xfrm>
            <a:off x="6571335" y="354558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Hiragino Sans W4"/>
                <a:ea typeface="Hiragino Sans W4"/>
              </a:rPr>
              <a:t>Interpretation — 解釈を記録する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1725" y="6108192"/>
            <a:ext cx="6528244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1725" y="6108192"/>
            <a:ext cx="652824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Research progresses through: Fact → Interpretation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65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思考は脳の外で起こる — 研究は記憶ではなく外部記録で進む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Why Log? — Thinking happens outside the brain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Brain / 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考えたことは消える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Note / 記録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外部に書き出す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Update / 思考更新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記録を見て思考が進む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8417" y="6108192"/>
            <a:ext cx="459486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8417" y="6108192"/>
            <a:ext cx="459486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書かない人間は必ず同じ失敗を繰り返す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66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記録の方法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How to Log — Log → Paper Arc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972055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72055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925193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毎日1回書く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290953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One entry every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047999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502152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502152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3455288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完璧は不要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3821049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No need for perfection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4578095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5032248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032248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4985384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仮説・事実・解釈を書く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5351145"/>
            <a:ext cx="957651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Hypotheses, Facts &amp; Interpretation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91547" y="6108192"/>
            <a:ext cx="4808601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91547" y="6108192"/>
            <a:ext cx="4808601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書くことで研究が前に進む — デモは来週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67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研究成果よりも、研究を通じて
どう成長するかを重視する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Lab Policy（再掲）— 冒頭の約束に戻る。Results → Human Growth（人格形成）。研究は人格形成の装置。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68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Hiragino Sans W8"/>
                <a:ea typeface="Hiragino Sans W8"/>
              </a:rPr>
              <a:t>Lab Values — もう一度、いちばん大事なこと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Hiragino Sans W4"/>
                <a:ea typeface="Hiragino Sans W4"/>
              </a:rPr>
              <a:t>明日からの行動基準として。今日の話はすべて、この4つの実装だった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自己管理 / Self-management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研究の主導権は自分にある。時間・計画・体調を自分で設計する。Research Log と Quarter Plan は自己管理の道具。管理されるのを待たない。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52463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7951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誠実さ /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データにも、人にも、自分にも正直であること。うまくいかない結果や停滞も隠さず共有する。「詰まって沈黙」は誠実さの反対。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敬意 / Respect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人・アイデア・時間への敬意。議論では Work（研究）を批判し、Peer（人）を攻撃しない。相手の時間を尊重した準備をして臨む。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1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2463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1023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Hiragino Sans W8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7951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Hiragino Sans W6"/>
                <a:ea typeface="Hiragino Sans W6"/>
              </a:rPr>
              <a:t>共創的探究 / Collective Inquiry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研究は個人戦ではない。Paper Card・Inquiry Cycle という共通言語で、互いの探究を加速させる。文化は全員でつくる。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6952" y="6108192"/>
            <a:ext cx="517779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6952" y="6108192"/>
            <a:ext cx="517779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Hiragino Sans W6"/>
                <a:ea typeface="Hiragino Sans W6"/>
              </a:rPr>
              <a:t>価値は貼り紙ではなく、日常の行動で示すもの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69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文化は偶然ではない。設計する。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Hiragino Sans W4"/>
                <a:ea typeface="Hiragino Sans W4"/>
              </a:rPr>
              <a:t>Research is Culture（再掲）— 構造（Structure）→ 習慣（Habit）→ 文化（Culture）。今日話したすべては、この文化を設計するための部品である。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Hiragino Sans W4"/>
                <a:ea typeface="Hiragino Sans W4"/>
              </a:rPr>
              <a:t>70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9527" y="214884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>
                <a:solidFill>
                  <a:srgbClr val="1F2937"/>
                </a:solidFill>
                <a:latin typeface="Hiragino Sans W8"/>
                <a:ea typeface="Hiragino Sans W8"/>
              </a:rPr>
              <a:t>Are you ready to update?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6727" y="352044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7D7E7F"/>
                </a:solidFill>
                <a:latin typeface="Hiragino Sans W4"/>
                <a:ea typeface="Hiragino Sans W4"/>
              </a:rPr>
              <a:t>研究用OSのインストールは完了 — あとは毎日、更新し続けるだけ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8309" y="4343400"/>
            <a:ext cx="7855076" cy="566928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8309" y="4343400"/>
            <a:ext cx="7855076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Hiragino Sans W6"/>
                <a:ea typeface="Hiragino Sans W6"/>
              </a:rPr>
              <a:t>質問・相談はいつでも：Lab Forum / Team Meeting / Individual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