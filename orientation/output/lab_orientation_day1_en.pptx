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1 / 70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05840"/>
            <a:ext cx="12191695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spc="300">
                <a:solidFill>
                  <a:srgbClr val="5D5D5D"/>
                </a:solidFill>
                <a:latin typeface="Avenir Next Bold"/>
                <a:ea typeface="Hiragino Sans W6"/>
              </a:rPr>
              <a:t>SUZUKI-A. LAB ORIENTATION — DAY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01138" y="1526501"/>
            <a:ext cx="75895" cy="161043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75458" y="1480781"/>
            <a:ext cx="7587843" cy="1701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>
                <a:solidFill>
                  <a:srgbClr val="1F2937"/>
                </a:solidFill>
                <a:latin typeface="Avenir Next Bold"/>
                <a:ea typeface="Hiragino Sans W8"/>
              </a:rPr>
              <a:t>Welcome to Suzuki-A. Lab:</a:t>
            </a:r>
          </a:p>
          <a:p>
            <a:pPr algn="l">
              <a:lnSpc>
                <a:spcPct val="125000"/>
              </a:lnSpc>
            </a:pPr>
            <a:r>
              <a:rPr sz="3800">
                <a:solidFill>
                  <a:srgbClr val="1F2937"/>
                </a:solidFill>
                <a:latin typeface="Avenir Next Bold"/>
                <a:ea typeface="Hiragino Sans W8"/>
              </a:rPr>
              <a:t>Installing the Research OS</a:t>
            </a:r>
          </a:p>
          <a:p>
            <a:pPr algn="l">
              <a:lnSpc>
                <a:spcPct val="125000"/>
              </a:lnSpc>
            </a:pPr>
            <a:r>
              <a:rPr sz="2356">
                <a:solidFill>
                  <a:srgbClr val="7D7E7F"/>
                </a:solidFill>
                <a:latin typeface="Avenir Next Bold"/>
                <a:ea typeface="Hiragino Sans W6"/>
              </a:rPr>
              <a:t>Research runs on design, not luck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78527" y="3548418"/>
            <a:ext cx="2834640" cy="29260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3868458"/>
            <a:ext cx="12191695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>
                <a:solidFill>
                  <a:srgbClr val="5D5D5D"/>
                </a:solidFill>
                <a:latin typeface="Avenir Book"/>
                <a:ea typeface="Hiragino Sans W4"/>
              </a:rPr>
              <a:t>Suzuki-A. Laboratory, Institute of Fluid Science, Tohoku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234218"/>
            <a:ext cx="12191695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50">
                <a:solidFill>
                  <a:srgbClr val="1F2937"/>
                </a:solidFill>
                <a:latin typeface="Avenir Next Bold"/>
                <a:ea typeface="Hiragino Sans W6"/>
              </a:rPr>
              <a:t>UPDATE STARTING NOW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2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Avenir Next Bold"/>
                <a:ea typeface="Hiragino Sans W8"/>
              </a:rPr>
              <a:t>Today's Agenda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1280160"/>
            <a:ext cx="384048" cy="38404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280160"/>
            <a:ext cx="56692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Avenir Next Bold"/>
                <a:ea typeface="Hiragino Sans W8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197864"/>
            <a:ext cx="694944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What is Research?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197864"/>
            <a:ext cx="3660343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Part 1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1956816"/>
            <a:ext cx="384048" cy="38404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956816"/>
            <a:ext cx="56692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Avenir Next Bold"/>
                <a:ea typeface="Hiragino Sans W8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874520"/>
            <a:ext cx="694944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Research as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874520"/>
            <a:ext cx="3660343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Part 2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2633472"/>
            <a:ext cx="384048" cy="38404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633472"/>
            <a:ext cx="56692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Avenir Next Bold"/>
                <a:ea typeface="Hiragino Sans W8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551176"/>
            <a:ext cx="694944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Paper Types &amp; Responsibilities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551176"/>
            <a:ext cx="3660343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Part 3</a:t>
            </a:r>
          </a:p>
        </p:txBody>
      </p:sp>
      <p:sp>
        <p:nvSpPr>
          <p:cNvPr id="17" name="Oval 16"/>
          <p:cNvSpPr/>
          <p:nvPr/>
        </p:nvSpPr>
        <p:spPr>
          <a:xfrm>
            <a:off x="713232" y="3310128"/>
            <a:ext cx="384048" cy="38404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3310128"/>
            <a:ext cx="56692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Avenir Next Bold"/>
                <a:ea typeface="Hiragino Sans W8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227832"/>
            <a:ext cx="694944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The 5-Layer 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227832"/>
            <a:ext cx="3660343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Part 4</a:t>
            </a:r>
          </a:p>
        </p:txBody>
      </p:sp>
      <p:sp>
        <p:nvSpPr>
          <p:cNvPr id="21" name="Oval 20"/>
          <p:cNvSpPr/>
          <p:nvPr/>
        </p:nvSpPr>
        <p:spPr>
          <a:xfrm>
            <a:off x="713232" y="3986784"/>
            <a:ext cx="384048" cy="38404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986784"/>
            <a:ext cx="56692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Avenir Next Bold"/>
                <a:ea typeface="Hiragino Sans W8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3904488"/>
            <a:ext cx="694944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Grade-Specific Goals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3904488"/>
            <a:ext cx="3660343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Part 5</a:t>
            </a:r>
          </a:p>
        </p:txBody>
      </p:sp>
      <p:sp>
        <p:nvSpPr>
          <p:cNvPr id="25" name="Oval 24"/>
          <p:cNvSpPr/>
          <p:nvPr/>
        </p:nvSpPr>
        <p:spPr>
          <a:xfrm>
            <a:off x="713232" y="4663440"/>
            <a:ext cx="384048" cy="38404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4663440"/>
            <a:ext cx="56692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Avenir Next Bold"/>
                <a:ea typeface="Hiragino Sans W8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581144"/>
            <a:ext cx="694944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Habits &amp; Culture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581144"/>
            <a:ext cx="3660343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Part 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7512" y="5513832"/>
            <a:ext cx="10856671" cy="868680"/>
          </a:xfrm>
          <a:prstGeom prst="roundRect">
            <a:avLst>
              <a:gd name="adj" fmla="val 13157"/>
            </a:avLst>
          </a:prstGeom>
          <a:solidFill>
            <a:srgbClr val="F8F4E9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67512" y="5513832"/>
            <a:ext cx="64008" cy="868680"/>
          </a:xfrm>
          <a:prstGeom prst="roundRect">
            <a:avLst>
              <a:gd name="adj" fmla="val 50000"/>
            </a:avLst>
          </a:prstGeom>
          <a:solidFill>
            <a:srgbClr val="C6A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" y="5632704"/>
            <a:ext cx="32004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9C8545"/>
                </a:solidFill>
                <a:latin typeface="Avenir Next Bold"/>
                <a:ea typeface="Hiragino Sans W6"/>
              </a:rPr>
              <a:t>TODAY'S QUESTION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" y="5879592"/>
            <a:ext cx="10216591" cy="4114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Is research Luck — or Design?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3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84367" y="21031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9527" y="2331720"/>
            <a:ext cx="9692640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>
                <a:solidFill>
                  <a:srgbClr val="1F2937"/>
                </a:solidFill>
                <a:latin typeface="Avenir Next Bold"/>
                <a:ea typeface="Hiragino Sans W8"/>
              </a:rPr>
              <a:t>We value who you become through research
more than the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84367" y="41605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81047" y="443484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350">
                <a:solidFill>
                  <a:srgbClr val="5D5D5D"/>
                </a:solidFill>
                <a:latin typeface="Avenir Book"/>
                <a:ea typeface="Hiragino Sans W4"/>
              </a:rPr>
              <a:t>Lab Policy — we start with what matters most. Results → Human Growth. Research is a device for character building. We will come back to this at the very end of today.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4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Avenir Next Bold"/>
                <a:ea typeface="Hiragino Sans W8"/>
              </a:rPr>
              <a:t>Lab Values — the four values of Suzuki-A.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>
                <a:solidFill>
                  <a:srgbClr val="5D5D5D"/>
                </a:solidFill>
                <a:latin typeface="Avenir Book"/>
                <a:ea typeface="Hiragino Sans W4"/>
              </a:rPr>
              <a:t>The criteria behind every activity. Everything today is an implementation of these four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517904"/>
            <a:ext cx="5327751" cy="2121408"/>
          </a:xfrm>
          <a:prstGeom prst="roundRect">
            <a:avLst>
              <a:gd name="adj" fmla="val 538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23544" y="1755648"/>
            <a:ext cx="329184" cy="329184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1755648"/>
            <a:ext cx="51206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>
                <a:solidFill>
                  <a:srgbClr val="FFFFFF"/>
                </a:solidFill>
                <a:latin typeface="Avenir Next Bold"/>
                <a:ea typeface="Hiragino Sans W8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1737360"/>
            <a:ext cx="4367631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Self-management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304288"/>
            <a:ext cx="4779111" cy="1124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Ownership of your research is yours. Design your own time, plans, and health. The Research Log and Quarter Plan are tools of self-management. Don't wait to be managed.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6431" y="1517904"/>
            <a:ext cx="5327751" cy="2121408"/>
          </a:xfrm>
          <a:prstGeom prst="roundRect">
            <a:avLst>
              <a:gd name="adj" fmla="val 538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52463" y="1755648"/>
            <a:ext cx="329184" cy="329184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1023" y="1755648"/>
            <a:ext cx="51206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>
                <a:solidFill>
                  <a:srgbClr val="FFFFFF"/>
                </a:solidFill>
                <a:latin typeface="Avenir Next Bold"/>
                <a:ea typeface="Hiragino Sans W8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7951" y="1737360"/>
            <a:ext cx="4367631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Integrity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0751" y="2304288"/>
            <a:ext cx="4779111" cy="1124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Be honest with the data, with people, and with yourself. Share unsuccessful results and stagnation openly. "Silence when stuck" is the opposite of integrity.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" y="3840480"/>
            <a:ext cx="5327751" cy="2121408"/>
          </a:xfrm>
          <a:prstGeom prst="roundRect">
            <a:avLst>
              <a:gd name="adj" fmla="val 538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4078224"/>
            <a:ext cx="329184" cy="329184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" y="4078224"/>
            <a:ext cx="51206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>
                <a:solidFill>
                  <a:srgbClr val="FFFFFF"/>
                </a:solidFill>
                <a:latin typeface="Avenir Next Bold"/>
                <a:ea typeface="Hiragino Sans W8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2" y="4059936"/>
            <a:ext cx="4367631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Respect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4626864"/>
            <a:ext cx="4779111" cy="1124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Respect for people, ideas, and time. In discussion, critique the Work — never attack the Peer. Come prepared, out of respect for others' time.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6431" y="3840480"/>
            <a:ext cx="5327751" cy="2121408"/>
          </a:xfrm>
          <a:prstGeom prst="roundRect">
            <a:avLst>
              <a:gd name="adj" fmla="val 538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52463" y="4078224"/>
            <a:ext cx="329184" cy="329184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1023" y="4078224"/>
            <a:ext cx="51206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>
                <a:solidFill>
                  <a:srgbClr val="FFFFFF"/>
                </a:solidFill>
                <a:latin typeface="Avenir Next Bold"/>
                <a:ea typeface="Hiragino Sans W8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7951" y="4059936"/>
            <a:ext cx="4367631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Collective Inquiry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0751" y="4626864"/>
            <a:ext cx="4779111" cy="1124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Research is not a solo game. Paper Card and Inquiry Cycle form a common language that accelerates each other's inquiry. Culture is built by everyone.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28880" y="6108192"/>
            <a:ext cx="6333934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8880" y="6108192"/>
            <a:ext cx="6333934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Avenir Next Bold"/>
                <a:ea typeface="Hiragino Sans W6"/>
              </a:rPr>
              <a:t>Values are shown in daily actions, not on posters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5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84367" y="21031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9527" y="2331720"/>
            <a:ext cx="9692640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>
                <a:solidFill>
                  <a:srgbClr val="1F2937"/>
                </a:solidFill>
                <a:latin typeface="Avenir Next Bold"/>
                <a:ea typeface="Hiragino Sans W8"/>
              </a:rPr>
              <a:t>Culture is not accidental.
It is designed.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84367" y="41605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81047" y="443484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Research is Culture — Structure → Habit → Culture. The "Research OS" we install today is the blueprint of this culture.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6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Avenir Next Bold"/>
                <a:ea typeface="Hiragino Sans W8"/>
              </a:rPr>
              <a:t>Is research Luck — or Design?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Avenir Book"/>
                <a:ea typeface="Hiragino Sans W4"/>
              </a:rPr>
              <a:t>Passive research vs intentional research</a:t>
            </a:r>
          </a:p>
        </p:txBody>
      </p:sp>
      <p:sp>
        <p:nvSpPr>
          <p:cNvPr id="6" name="Chevron 5"/>
          <p:cNvSpPr/>
          <p:nvPr/>
        </p:nvSpPr>
        <p:spPr>
          <a:xfrm>
            <a:off x="5867247" y="3456432"/>
            <a:ext cx="457200" cy="566928"/>
          </a:xfrm>
          <a:prstGeom prst="chevron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7512" y="1517904"/>
            <a:ext cx="4948275" cy="4443983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1832" y="1773936"/>
            <a:ext cx="1188720" cy="384048"/>
          </a:xfrm>
          <a:prstGeom prst="roundRect">
            <a:avLst>
              <a:gd name="adj" fmla="val 19047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773936"/>
            <a:ext cx="118872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>
                <a:solidFill>
                  <a:srgbClr val="5D5D5D"/>
                </a:solidFill>
                <a:latin typeface="Avenir Next Bold"/>
                <a:ea typeface="Hiragino Sans W6"/>
              </a:rPr>
              <a:t>Luck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2560828"/>
            <a:ext cx="219456" cy="219456"/>
          </a:xfrm>
          <a:prstGeom prst="ellipse">
            <a:avLst/>
          </a:prstGeom>
          <a:solidFill>
            <a:srgbClr val="7D7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560828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>
                <a:solidFill>
                  <a:srgbClr val="FFFFFF"/>
                </a:solidFill>
                <a:latin typeface="Avenir Next Bold"/>
                <a:ea typeface="Hiragino Sans W6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" y="2496312"/>
            <a:ext cx="4052163" cy="42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Waiting for inspiration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3393948"/>
            <a:ext cx="219456" cy="219456"/>
          </a:xfrm>
          <a:prstGeom prst="ellipse">
            <a:avLst/>
          </a:prstGeom>
          <a:solidFill>
            <a:srgbClr val="7D7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93948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>
                <a:solidFill>
                  <a:srgbClr val="FFFFFF"/>
                </a:solidFill>
                <a:latin typeface="Avenir Next Bold"/>
                <a:ea typeface="Hiragino Sans W6"/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9304" y="3329432"/>
            <a:ext cx="4052163" cy="42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Trial and error only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" y="4227068"/>
            <a:ext cx="219456" cy="219456"/>
          </a:xfrm>
          <a:prstGeom prst="ellipse">
            <a:avLst/>
          </a:prstGeom>
          <a:solidFill>
            <a:srgbClr val="7D7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227068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>
                <a:solidFill>
                  <a:srgbClr val="FFFFFF"/>
                </a:solidFill>
                <a:latin typeface="Avenir Next Bold"/>
                <a:ea typeface="Hiragino Sans W6"/>
              </a:rPr>
              <a:t>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9304" y="4162552"/>
            <a:ext cx="4052163" cy="42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Results are random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75907" y="1517904"/>
            <a:ext cx="4948275" cy="4443983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0227" y="1773936"/>
            <a:ext cx="1188720" cy="384048"/>
          </a:xfrm>
          <a:prstGeom prst="roundRect">
            <a:avLst>
              <a:gd name="adj" fmla="val 19047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0227" y="1773936"/>
            <a:ext cx="118872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>
                <a:solidFill>
                  <a:srgbClr val="FFFFFF"/>
                </a:solidFill>
                <a:latin typeface="Avenir Next Bold"/>
                <a:ea typeface="Hiragino Sans W6"/>
              </a:rPr>
              <a:t>Design</a:t>
            </a:r>
          </a:p>
        </p:txBody>
      </p:sp>
      <p:sp>
        <p:nvSpPr>
          <p:cNvPr id="22" name="Oval 21"/>
          <p:cNvSpPr/>
          <p:nvPr/>
        </p:nvSpPr>
        <p:spPr>
          <a:xfrm>
            <a:off x="6868515" y="2560828"/>
            <a:ext cx="219456" cy="21945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77075" y="2560828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>
                <a:solidFill>
                  <a:srgbClr val="FFFFFF"/>
                </a:solidFill>
                <a:latin typeface="Avenir Next Bold"/>
                <a:ea typeface="Hiragino Sans W6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97699" y="2496312"/>
            <a:ext cx="4052163" cy="42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Intentional inquiry</a:t>
            </a:r>
          </a:p>
        </p:txBody>
      </p:sp>
      <p:sp>
        <p:nvSpPr>
          <p:cNvPr id="25" name="Oval 24"/>
          <p:cNvSpPr/>
          <p:nvPr/>
        </p:nvSpPr>
        <p:spPr>
          <a:xfrm>
            <a:off x="6868515" y="3393948"/>
            <a:ext cx="219456" cy="21945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77075" y="3393948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>
                <a:solidFill>
                  <a:srgbClr val="FFFFFF"/>
                </a:solidFill>
                <a:latin typeface="Avenir Next Bold"/>
                <a:ea typeface="Hiragino Sans W6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97699" y="3329432"/>
            <a:ext cx="4052163" cy="42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Structured process</a:t>
            </a:r>
          </a:p>
        </p:txBody>
      </p:sp>
      <p:sp>
        <p:nvSpPr>
          <p:cNvPr id="28" name="Oval 27"/>
          <p:cNvSpPr/>
          <p:nvPr/>
        </p:nvSpPr>
        <p:spPr>
          <a:xfrm>
            <a:off x="6868515" y="4227068"/>
            <a:ext cx="219456" cy="21945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77075" y="4227068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>
                <a:solidFill>
                  <a:srgbClr val="FFFFFF"/>
                </a:solidFill>
                <a:latin typeface="Avenir Next Bold"/>
                <a:ea typeface="Hiragino Sans W6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97699" y="4162552"/>
            <a:ext cx="4052163" cy="42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Reproducible results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09797" y="6108192"/>
            <a:ext cx="5372100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09797" y="6108192"/>
            <a:ext cx="5372100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Avenir Next Bold"/>
                <a:ea typeface="Hiragino Sans W6"/>
              </a:rPr>
              <a:t>Blaming luck for your results ends today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7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Avenir Next Bold"/>
                <a:ea typeface="Hiragino Sans W8"/>
              </a:rPr>
              <a:t>Same hours, different outcomes —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Avenir Book"/>
                <a:ea typeface="Hiragino Sans W4"/>
              </a:rPr>
              <a:t>The Lost vs The Focused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517904"/>
            <a:ext cx="5245455" cy="4443983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55648"/>
            <a:ext cx="4660239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The Lost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194560"/>
            <a:ext cx="502920" cy="32004"/>
          </a:xfrm>
          <a:prstGeom prst="roundRect">
            <a:avLst>
              <a:gd name="adj" fmla="val 48571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54046"/>
            <a:ext cx="82296" cy="8229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97864" y="251460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Data without a claim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3545586"/>
            <a:ext cx="82296" cy="8229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340614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Low contribution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727" y="1517904"/>
            <a:ext cx="5245455" cy="4443983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71335" y="1755648"/>
            <a:ext cx="4660239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The Focused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71335" y="2194560"/>
            <a:ext cx="502920" cy="32004"/>
          </a:xfrm>
          <a:prstGeom prst="roundRect">
            <a:avLst>
              <a:gd name="adj" fmla="val 48571"/>
            </a:avLst>
          </a:prstGeom>
          <a:solidFill>
            <a:srgbClr val="35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71335" y="2654046"/>
            <a:ext cx="82296" cy="82296"/>
          </a:xfrm>
          <a:prstGeom prst="ellipse">
            <a:avLst/>
          </a:prstGeom>
          <a:solidFill>
            <a:srgbClr val="35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9079" y="251460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They live and die by question design</a:t>
            </a:r>
          </a:p>
        </p:txBody>
      </p:sp>
      <p:sp>
        <p:nvSpPr>
          <p:cNvPr id="18" name="Oval 17"/>
          <p:cNvSpPr/>
          <p:nvPr/>
        </p:nvSpPr>
        <p:spPr>
          <a:xfrm>
            <a:off x="6571335" y="3888485"/>
            <a:ext cx="82296" cy="82296"/>
          </a:xfrm>
          <a:prstGeom prst="ellipse">
            <a:avLst/>
          </a:prstGeom>
          <a:solidFill>
            <a:srgbClr val="35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09079" y="3749039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High impact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76973" y="6108192"/>
            <a:ext cx="4837747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76973" y="6108192"/>
            <a:ext cx="4837747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Avenir Next Bold"/>
                <a:ea typeface="Hiragino Sans W6"/>
              </a:rPr>
              <a:t>It's not about Talent. It's the 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8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>
                <a:solidFill>
                  <a:srgbClr val="1F2937"/>
                </a:solidFill>
                <a:latin typeface="Avenir Next Bold"/>
                <a:ea typeface="Hiragino Sans W8"/>
              </a:rPr>
              <a:t>The "Data-First" trap: experiments first, meaning later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Avenir Book"/>
                <a:ea typeface="Hiragino Sans W4"/>
              </a:rPr>
              <a:t>How research quietly goes off the rails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74621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3181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Avenir Next Bold"/>
                <a:ea typeface="Hiragino Sans W8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Collect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3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Gather data first, without a question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0370" y="3520439"/>
            <a:ext cx="329184" cy="438912"/>
          </a:xfrm>
          <a:prstGeom prst="chevron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6928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76391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84951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Avenir Next Bold"/>
                <a:ea typeface="Hiragino Sans W8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644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Just run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3874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Exp / Sim — figure out the meaning later</a:t>
            </a:r>
          </a:p>
        </p:txBody>
      </p:sp>
      <p:sp>
        <p:nvSpPr>
          <p:cNvPr id="17" name="Chevron 16"/>
          <p:cNvSpPr/>
          <p:nvPr/>
        </p:nvSpPr>
        <p:spPr>
          <a:xfrm>
            <a:off x="7832140" y="3520439"/>
            <a:ext cx="329184" cy="438912"/>
          </a:xfrm>
          <a:prstGeom prst="chevron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7105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78162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86722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Avenir Next Bold"/>
                <a:ea typeface="Hiragino Sans W8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821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Get lost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5644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No direction, no claim — wandering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96056" y="6108192"/>
            <a:ext cx="5799582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96056" y="6108192"/>
            <a:ext cx="5799582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Avenir Next Bold"/>
                <a:ea typeface="Hiragino Sans W6"/>
              </a:rPr>
              <a:t>Entering the forest without a map ends today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9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Avenir Next Bold"/>
                <a:ea typeface="Hiragino Sans W8"/>
              </a:rPr>
              <a:t>The new standard: Suzuki-A. Lab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Avenir Book"/>
                <a:ea typeface="Hiragino Sans W4"/>
              </a:rPr>
              <a:t>From talent-based to system-based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2356865"/>
            <a:ext cx="3472586" cy="2766060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3544" y="2612898"/>
            <a:ext cx="530352" cy="530352"/>
          </a:xfrm>
          <a:prstGeom prst="roundRect">
            <a:avLst>
              <a:gd name="adj" fmla="val 25000"/>
            </a:avLst>
          </a:prstGeom>
          <a:solidFill>
            <a:srgbClr val="E4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monstr-gear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14" y="2718968"/>
            <a:ext cx="318211" cy="3182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3544" y="3307841"/>
            <a:ext cx="2960522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Systematization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774185"/>
            <a:ext cx="2960522" cy="11201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Replace individual sense with a system anyone can run.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9554" y="2356865"/>
            <a:ext cx="3472586" cy="2766060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15586" y="2612898"/>
            <a:ext cx="530352" cy="530352"/>
          </a:xfrm>
          <a:prstGeom prst="roundRect">
            <a:avLst>
              <a:gd name="adj" fmla="val 25000"/>
            </a:avLst>
          </a:prstGeom>
          <a:solidFill>
            <a:srgbClr val="E7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monstr-speech-bubble-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1656" y="2718968"/>
            <a:ext cx="318211" cy="31821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15586" y="3307841"/>
            <a:ext cx="2960522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Common Language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5586" y="3774185"/>
            <a:ext cx="2960522" cy="11201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Paper Card, Inquiry Cycle — one vocabulary for every lab member.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596" y="2356865"/>
            <a:ext cx="3472586" cy="2766060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07628" y="2612898"/>
            <a:ext cx="530352" cy="530352"/>
          </a:xfrm>
          <a:prstGeom prst="roundRect">
            <a:avLst>
              <a:gd name="adj" fmla="val 25000"/>
            </a:avLst>
          </a:prstGeom>
          <a:solidFill>
            <a:srgbClr val="F8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monstr-redo-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3699" y="2718968"/>
            <a:ext cx="318211" cy="31821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07628" y="3307841"/>
            <a:ext cx="2960522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Reproducibility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7628" y="3774185"/>
            <a:ext cx="2960522" cy="11201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Anyone can reproduce high-quality outcomes.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63232" y="6108192"/>
            <a:ext cx="5265229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63232" y="6108192"/>
            <a:ext cx="5265229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Avenir Next Bold"/>
                <a:ea typeface="Hiragino Sans W6"/>
              </a:rPr>
              <a:t>Aiming for overwhelming reproducibility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10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84367" y="21031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9527" y="2331720"/>
            <a:ext cx="9692640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>
                <a:solidFill>
                  <a:srgbClr val="1F2937"/>
                </a:solidFill>
                <a:latin typeface="Avenir Next Bold"/>
                <a:ea typeface="Hiragino Sans W8"/>
              </a:rPr>
              <a:t>A paper is not the end result.
It is a medium to receive "error".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84367" y="41605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81047" y="443484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Goal of Day 1: shake your attitude toward research — accept the gap, and take on the responsibility of continuous updating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11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Avenir Next Bold"/>
                <a:ea typeface="Hiragino Sans W8"/>
              </a:rPr>
              <a:t>Are you ready to update?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Avenir Book"/>
                <a:ea typeface="Hiragino Sans W4"/>
              </a:rPr>
              <a:t>How this orientation is structured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517904"/>
            <a:ext cx="5245455" cy="4443983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55648"/>
            <a:ext cx="4660239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DAY 1: Soul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194560"/>
            <a:ext cx="502920" cy="32004"/>
          </a:xfrm>
          <a:prstGeom prst="roundRect">
            <a:avLst>
              <a:gd name="adj" fmla="val 48571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54046"/>
            <a:ext cx="82296" cy="8229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97864" y="251460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Philosophy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3545586"/>
            <a:ext cx="82296" cy="8229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340614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Expectations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4437126"/>
            <a:ext cx="82296" cy="8229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97864" y="429768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Responsibility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727" y="1517904"/>
            <a:ext cx="5245455" cy="4443983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71335" y="1755648"/>
            <a:ext cx="4660239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DAY 2: Action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71335" y="2194560"/>
            <a:ext cx="502920" cy="32004"/>
          </a:xfrm>
          <a:prstGeom prst="roundRect">
            <a:avLst>
              <a:gd name="adj" fmla="val 48571"/>
            </a:avLst>
          </a:prstGeom>
          <a:solidFill>
            <a:srgbClr val="35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71335" y="2654046"/>
            <a:ext cx="82296" cy="82296"/>
          </a:xfrm>
          <a:prstGeom prst="ellipse">
            <a:avLst/>
          </a:prstGeom>
          <a:solidFill>
            <a:srgbClr val="35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09079" y="251460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Implementation</a:t>
            </a:r>
          </a:p>
        </p:txBody>
      </p:sp>
      <p:sp>
        <p:nvSpPr>
          <p:cNvPr id="20" name="Oval 19"/>
          <p:cNvSpPr/>
          <p:nvPr/>
        </p:nvSpPr>
        <p:spPr>
          <a:xfrm>
            <a:off x="6571335" y="3545586"/>
            <a:ext cx="82296" cy="82296"/>
          </a:xfrm>
          <a:prstGeom prst="ellipse">
            <a:avLst/>
          </a:prstGeom>
          <a:solidFill>
            <a:srgbClr val="35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9079" y="340614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Tools</a:t>
            </a:r>
          </a:p>
        </p:txBody>
      </p:sp>
      <p:sp>
        <p:nvSpPr>
          <p:cNvPr id="22" name="Oval 21"/>
          <p:cNvSpPr/>
          <p:nvPr/>
        </p:nvSpPr>
        <p:spPr>
          <a:xfrm>
            <a:off x="6571335" y="4437126"/>
            <a:ext cx="82296" cy="82296"/>
          </a:xfrm>
          <a:prstGeom prst="ellipse">
            <a:avLst/>
          </a:prstGeom>
          <a:solidFill>
            <a:srgbClr val="35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9079" y="429768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Practice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89186" y="6108192"/>
            <a:ext cx="6013323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89186" y="6108192"/>
            <a:ext cx="6013323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Avenir Next Bold"/>
                <a:ea typeface="Hiragino Sans W6"/>
              </a:rPr>
              <a:t>Mixing dilutes. Today, we start with the soul.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12 / 70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0" y="1005840"/>
            <a:ext cx="6400800" cy="4846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27000">
                <a:solidFill>
                  <a:srgbClr val="D9EAEF"/>
                </a:solidFill>
                <a:latin typeface="Avenir Next Bold"/>
                <a:ea typeface="Hiragino Sans W8"/>
              </a:rPr>
              <a:t>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" y="2240280"/>
            <a:ext cx="75895" cy="1833117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4983" y="2258568"/>
            <a:ext cx="82296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spc="280">
                <a:solidFill>
                  <a:srgbClr val="5D5D5D"/>
                </a:solidFill>
                <a:latin typeface="Avenir Next Bold"/>
                <a:ea typeface="Hiragino Sans W6"/>
              </a:rPr>
              <a:t>SECTION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3" y="2624328"/>
            <a:ext cx="9875520" cy="960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>
                <a:solidFill>
                  <a:srgbClr val="1F2937"/>
                </a:solidFill>
                <a:latin typeface="Avenir Next Bold"/>
                <a:ea typeface="Hiragino Sans W8"/>
              </a:rPr>
              <a:t>What is Research?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3" y="3497326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>
                <a:solidFill>
                  <a:srgbClr val="7D7E7F"/>
                </a:solidFill>
                <a:latin typeface="Avenir Book"/>
                <a:ea typeface="Hiragino Sans W4"/>
              </a:rPr>
              <a:t>Inquiry — not answer collection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13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84367" y="21031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9527" y="2331720"/>
            <a:ext cx="9692640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>
                <a:solidFill>
                  <a:srgbClr val="1F2937"/>
                </a:solidFill>
                <a:latin typeface="Avenir Next Bold"/>
                <a:ea typeface="Hiragino Sans W8"/>
              </a:rPr>
              <a:t>Inquiry is never "finished".
It keeps being updated.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84367" y="41605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81047" y="443484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Research is Inquiry — not a project with a deadline, but a living, iterative cycle. There is no linear goal (Research ≠ linear path)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14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>
                <a:solidFill>
                  <a:srgbClr val="1F2937"/>
                </a:solidFill>
                <a:latin typeface="Avenir Next Bold"/>
                <a:ea typeface="Hiragino Sans W8"/>
              </a:rPr>
              <a:t>Research is not collecting answers — it refines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Avenir Book"/>
                <a:ea typeface="Hiragino Sans W4"/>
              </a:rPr>
              <a:t>The Essence of Research</a:t>
            </a:r>
          </a:p>
        </p:txBody>
      </p:sp>
      <p:sp>
        <p:nvSpPr>
          <p:cNvPr id="6" name="Chevron 5"/>
          <p:cNvSpPr/>
          <p:nvPr/>
        </p:nvSpPr>
        <p:spPr>
          <a:xfrm>
            <a:off x="5867247" y="3456432"/>
            <a:ext cx="457200" cy="566928"/>
          </a:xfrm>
          <a:prstGeom prst="chevron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7512" y="1517904"/>
            <a:ext cx="4948275" cy="4443983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1832" y="1773936"/>
            <a:ext cx="2497836" cy="384048"/>
          </a:xfrm>
          <a:prstGeom prst="roundRect">
            <a:avLst>
              <a:gd name="adj" fmla="val 19047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773936"/>
            <a:ext cx="2497836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>
                <a:solidFill>
                  <a:srgbClr val="5D5D5D"/>
                </a:solidFill>
                <a:latin typeface="Avenir Next Bold"/>
                <a:ea typeface="Hiragino Sans W6"/>
              </a:rPr>
              <a:t>✕ Collecting answers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2725928"/>
            <a:ext cx="219456" cy="219456"/>
          </a:xfrm>
          <a:prstGeom prst="ellipse">
            <a:avLst/>
          </a:prstGeom>
          <a:solidFill>
            <a:srgbClr val="7D7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25928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>
                <a:solidFill>
                  <a:srgbClr val="FFFFFF"/>
                </a:solidFill>
                <a:latin typeface="Avenir Next Bold"/>
                <a:ea typeface="Hiragino Sans W6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" y="2496312"/>
            <a:ext cx="4052163" cy="75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Piling up answers — Answer Pile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3724148"/>
            <a:ext cx="219456" cy="219456"/>
          </a:xfrm>
          <a:prstGeom prst="ellipse">
            <a:avLst/>
          </a:prstGeom>
          <a:solidFill>
            <a:srgbClr val="7D7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24148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>
                <a:solidFill>
                  <a:srgbClr val="FFFFFF"/>
                </a:solidFill>
                <a:latin typeface="Avenir Next Bold"/>
                <a:ea typeface="Hiragino Sans W6"/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9304" y="3659632"/>
            <a:ext cx="4052163" cy="42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Aiming for a final answer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75907" y="1517904"/>
            <a:ext cx="4948275" cy="4443983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0227" y="1773936"/>
            <a:ext cx="2579446" cy="384048"/>
          </a:xfrm>
          <a:prstGeom prst="roundRect">
            <a:avLst>
              <a:gd name="adj" fmla="val 19047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0227" y="1773936"/>
            <a:ext cx="2579446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>
                <a:solidFill>
                  <a:srgbClr val="FFFFFF"/>
                </a:solidFill>
                <a:latin typeface="Avenir Next Bold"/>
                <a:ea typeface="Hiragino Sans W6"/>
              </a:rPr>
              <a:t>○ Refining questions</a:t>
            </a:r>
          </a:p>
        </p:txBody>
      </p:sp>
      <p:sp>
        <p:nvSpPr>
          <p:cNvPr id="19" name="Oval 18"/>
          <p:cNvSpPr/>
          <p:nvPr/>
        </p:nvSpPr>
        <p:spPr>
          <a:xfrm>
            <a:off x="6868515" y="2725928"/>
            <a:ext cx="219456" cy="21945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77075" y="2725928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>
                <a:solidFill>
                  <a:srgbClr val="FFFFFF"/>
                </a:solidFill>
                <a:latin typeface="Avenir Next Bold"/>
                <a:ea typeface="Hiragino Sans W6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97699" y="2496312"/>
            <a:ext cx="4052163" cy="75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Sharpening the question — </a:t>
            </a:r>
            <a:r>
              <a:rPr sz="2000">
                <a:solidFill>
                  <a:srgbClr val="9C8545"/>
                </a:solidFill>
                <a:latin typeface="Avenir Next Bold"/>
                <a:ea typeface="Hiragino Sans W6"/>
              </a:rPr>
              <a:t>Refined Question</a:t>
            </a:r>
          </a:p>
        </p:txBody>
      </p:sp>
      <p:sp>
        <p:nvSpPr>
          <p:cNvPr id="22" name="Oval 21"/>
          <p:cNvSpPr/>
          <p:nvPr/>
        </p:nvSpPr>
        <p:spPr>
          <a:xfrm>
            <a:off x="6868515" y="3889247"/>
            <a:ext cx="219456" cy="21945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77075" y="3889247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>
                <a:solidFill>
                  <a:srgbClr val="FFFFFF"/>
                </a:solidFill>
                <a:latin typeface="Avenir Next Bold"/>
                <a:ea typeface="Hiragino Sans W6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97699" y="3659632"/>
            <a:ext cx="4052163" cy="75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Toward a sharper, better-framed question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57678" y="6108192"/>
            <a:ext cx="7276338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57678" y="6108192"/>
            <a:ext cx="7276338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Avenir Next Bold"/>
                <a:ea typeface="Hiragino Sans W6"/>
              </a:rPr>
              <a:t>The goal is not a final answer — it is a sharper question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15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Avenir Next Bold"/>
                <a:ea typeface="Hiragino Sans W8"/>
              </a:rPr>
              <a:t>Inquiry turns doubt into belief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Avenir Book"/>
                <a:ea typeface="Hiragino Sans W4"/>
              </a:rPr>
              <a:t>From Doubt to Belief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74621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3181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Avenir Next Bold"/>
                <a:ea typeface="Hiragino Sans W8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Doubt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3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"Something feels off…"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0370" y="3520439"/>
            <a:ext cx="329184" cy="438912"/>
          </a:xfrm>
          <a:prstGeom prst="chevron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6928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76391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84951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Avenir Next Bold"/>
                <a:ea typeface="Hiragino Sans W8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644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Inquiry Cycle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3874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Question → Hypothesis → Test, again and again</a:t>
            </a:r>
          </a:p>
        </p:txBody>
      </p:sp>
      <p:sp>
        <p:nvSpPr>
          <p:cNvPr id="17" name="Chevron 16"/>
          <p:cNvSpPr/>
          <p:nvPr/>
        </p:nvSpPr>
        <p:spPr>
          <a:xfrm>
            <a:off x="7832140" y="3520439"/>
            <a:ext cx="329184" cy="438912"/>
          </a:xfrm>
          <a:prstGeom prst="chevron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7105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78162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86722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Avenir Next Bold"/>
                <a:ea typeface="Hiragino Sans W8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821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Belief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5644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Probabilistic, provisional, updatable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37279" y="6108192"/>
            <a:ext cx="4517136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37279" y="6108192"/>
            <a:ext cx="4517136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Avenir Next Bold"/>
                <a:ea typeface="Hiragino Sans W6"/>
              </a:rPr>
              <a:t>Keep the Inquiry Cycle turning ↺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16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Avenir Next Bold"/>
                <a:ea typeface="Hiragino Sans W8"/>
              </a:rPr>
              <a:t>Inquiry Cycle: updating is the essence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Avenir Book"/>
                <a:ea typeface="Hiragino Sans W4"/>
              </a:rPr>
              <a:t>"Theory ≠ Observation"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2162556"/>
            <a:ext cx="1732422" cy="3154680"/>
          </a:xfrm>
          <a:prstGeom prst="roundRect">
            <a:avLst>
              <a:gd name="adj" fmla="val 659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14267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22827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Avenir Next Bold"/>
                <a:ea typeface="Hiragino Sans W8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031235"/>
            <a:ext cx="145810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>
                <a:solidFill>
                  <a:srgbClr val="1F2937"/>
                </a:solidFill>
                <a:latin typeface="Avenir Next Bold"/>
                <a:ea typeface="Hiragino Sans W6"/>
              </a:rPr>
              <a:t>Misalignment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3" y="3698748"/>
            <a:ext cx="140323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A sense that something is off</a:t>
            </a:r>
          </a:p>
        </p:txBody>
      </p:sp>
      <p:sp>
        <p:nvSpPr>
          <p:cNvPr id="11" name="Chevron 10"/>
          <p:cNvSpPr/>
          <p:nvPr/>
        </p:nvSpPr>
        <p:spPr>
          <a:xfrm>
            <a:off x="2509662" y="3520439"/>
            <a:ext cx="329184" cy="438912"/>
          </a:xfrm>
          <a:prstGeom prst="chevron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48574" y="2162556"/>
            <a:ext cx="1732422" cy="3154680"/>
          </a:xfrm>
          <a:prstGeom prst="roundRect">
            <a:avLst>
              <a:gd name="adj" fmla="val 659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95329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3889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Avenir Next Bold"/>
                <a:ea typeface="Hiragino Sans W8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5734" y="3031235"/>
            <a:ext cx="145810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3166" y="3698748"/>
            <a:ext cx="140323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Frame it</a:t>
            </a:r>
          </a:p>
        </p:txBody>
      </p:sp>
      <p:sp>
        <p:nvSpPr>
          <p:cNvPr id="17" name="Chevron 16"/>
          <p:cNvSpPr/>
          <p:nvPr/>
        </p:nvSpPr>
        <p:spPr>
          <a:xfrm>
            <a:off x="4790724" y="3520439"/>
            <a:ext cx="329184" cy="438912"/>
          </a:xfrm>
          <a:prstGeom prst="chevron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29636" y="2162556"/>
            <a:ext cx="1732422" cy="3154680"/>
          </a:xfrm>
          <a:prstGeom prst="roundRect">
            <a:avLst>
              <a:gd name="adj" fmla="val 659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876391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84951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Avenir Next Bold"/>
                <a:ea typeface="Hiragino Sans W8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66796" y="3031235"/>
            <a:ext cx="145810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Hypothesis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228" y="3698748"/>
            <a:ext cx="140323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Commit to a guess</a:t>
            </a:r>
          </a:p>
        </p:txBody>
      </p:sp>
      <p:sp>
        <p:nvSpPr>
          <p:cNvPr id="23" name="Chevron 22"/>
          <p:cNvSpPr/>
          <p:nvPr/>
        </p:nvSpPr>
        <p:spPr>
          <a:xfrm>
            <a:off x="7071786" y="3520439"/>
            <a:ext cx="329184" cy="438912"/>
          </a:xfrm>
          <a:prstGeom prst="chevron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510698" y="2162556"/>
            <a:ext cx="1732422" cy="3154680"/>
          </a:xfrm>
          <a:prstGeom prst="roundRect">
            <a:avLst>
              <a:gd name="adj" fmla="val 659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157453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66013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Avenir Next Bold"/>
                <a:ea typeface="Hiragino Sans W8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47858" y="3031235"/>
            <a:ext cx="145810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75290" y="3698748"/>
            <a:ext cx="140323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Iterate</a:t>
            </a:r>
          </a:p>
        </p:txBody>
      </p:sp>
      <p:sp>
        <p:nvSpPr>
          <p:cNvPr id="29" name="Chevron 28"/>
          <p:cNvSpPr/>
          <p:nvPr/>
        </p:nvSpPr>
        <p:spPr>
          <a:xfrm>
            <a:off x="9352848" y="3520439"/>
            <a:ext cx="329184" cy="438912"/>
          </a:xfrm>
          <a:prstGeom prst="chevron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791760" y="2162556"/>
            <a:ext cx="1732422" cy="3154680"/>
          </a:xfrm>
          <a:prstGeom prst="roundRect">
            <a:avLst>
              <a:gd name="adj" fmla="val 659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438516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47076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Avenir Next Bold"/>
                <a:ea typeface="Hiragino Sans W8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8920" y="3031235"/>
            <a:ext cx="145810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Belief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56352" y="3698748"/>
            <a:ext cx="140323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Provisional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152336" y="6108192"/>
            <a:ext cx="5887021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52336" y="6108192"/>
            <a:ext cx="5887021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Avenir Next Bold"/>
                <a:ea typeface="Hiragino Sans W6"/>
              </a:rPr>
              <a:t>Provisional Belief — always open to revision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17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>
                <a:solidFill>
                  <a:srgbClr val="1F2937"/>
                </a:solidFill>
                <a:latin typeface="Avenir Next Bold"/>
                <a:ea typeface="Hiragino Sans W8"/>
              </a:rPr>
              <a:t>Mismatch is the beginning — the gap generates inquiry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Avenir Book"/>
                <a:ea typeface="Hiragino Sans W4"/>
              </a:rPr>
              <a:t>The gap is the starting 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517904"/>
            <a:ext cx="5245455" cy="4443983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55648"/>
            <a:ext cx="4660239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Observation ≠ Understanding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194560"/>
            <a:ext cx="502920" cy="32004"/>
          </a:xfrm>
          <a:prstGeom prst="roundRect">
            <a:avLst>
              <a:gd name="adj" fmla="val 48571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54046"/>
            <a:ext cx="82296" cy="8229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97864" y="251460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The gap between what we observe and what we understand generates questions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517904"/>
            <a:ext cx="5245455" cy="4443983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71335" y="1755648"/>
            <a:ext cx="4660239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Ideal ≠ Reality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71335" y="2194560"/>
            <a:ext cx="502920" cy="32004"/>
          </a:xfrm>
          <a:prstGeom prst="roundRect">
            <a:avLst>
              <a:gd name="adj" fmla="val 48571"/>
            </a:avLst>
          </a:prstGeom>
          <a:solidFill>
            <a:srgbClr val="35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71335" y="2654046"/>
            <a:ext cx="82296" cy="82296"/>
          </a:xfrm>
          <a:prstGeom prst="ellipse">
            <a:avLst/>
          </a:prstGeom>
          <a:solidFill>
            <a:srgbClr val="35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09079" y="251460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The gap between the ideal and the real generates questions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7606" y="6108192"/>
            <a:ext cx="3856482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7606" y="6108192"/>
            <a:ext cx="3856482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Avenir Next Bold"/>
                <a:ea typeface="Hiragino Sans W6"/>
              </a:rPr>
              <a:t>GAP → Inquiry starts here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18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Avenir Next Bold"/>
                <a:ea typeface="Hiragino Sans W8"/>
              </a:rPr>
              <a:t>Cognition shares the same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Avenir Book"/>
                <a:ea typeface="Hiragino Sans W4"/>
              </a:rPr>
              <a:t>The brain works the same 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74621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3181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Avenir Next Bold"/>
                <a:ea typeface="Hiragino Sans W8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3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The brain predicts the world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0370" y="3520439"/>
            <a:ext cx="329184" cy="438912"/>
          </a:xfrm>
          <a:prstGeom prst="chevron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6928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76391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84951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Avenir Next Bold"/>
                <a:ea typeface="Hiragino Sans W8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644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Error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3874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It detects the mismatch with observation</a:t>
            </a:r>
          </a:p>
        </p:txBody>
      </p:sp>
      <p:sp>
        <p:nvSpPr>
          <p:cNvPr id="17" name="Chevron 16"/>
          <p:cNvSpPr/>
          <p:nvPr/>
        </p:nvSpPr>
        <p:spPr>
          <a:xfrm>
            <a:off x="7832140" y="3520439"/>
            <a:ext cx="329184" cy="438912"/>
          </a:xfrm>
          <a:prstGeom prst="chevron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7105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78162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86722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Avenir Next Bold"/>
                <a:ea typeface="Hiragino Sans W8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821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Update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5644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It updates itself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35538" y="6108192"/>
            <a:ext cx="9520618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35538" y="6108192"/>
            <a:ext cx="9520618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Avenir Next Bold"/>
                <a:ea typeface="Hiragino Sans W6"/>
              </a:rPr>
              <a:t>Cognition and Inquiry share one structure — Free Energy Principle (K. Friston)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19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84367" y="21031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9527" y="2331720"/>
            <a:ext cx="9692640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>
                <a:solidFill>
                  <a:srgbClr val="1F2937"/>
                </a:solidFill>
                <a:latin typeface="Avenir Next Bold"/>
                <a:ea typeface="Hiragino Sans W8"/>
              </a:rPr>
              <a:t>The brain strives to minimize prediction error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84367" y="41605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81047" y="443484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Free Energy Principle (intuitive version) — large error → discomfort → action &amp; update ／ small error → stable belief. Beyond the update lies a refined belief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20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Avenir Next Bold"/>
                <a:ea typeface="Hiragino Sans W8"/>
              </a:rPr>
              <a:t>Belief is not "Truth". It is Probability.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Avenir Book"/>
                <a:ea typeface="Hiragino Sans W4"/>
              </a:rPr>
              <a:t>What is a Belief?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2490216"/>
            <a:ext cx="3472586" cy="2499360"/>
          </a:xfrm>
          <a:prstGeom prst="roundRect">
            <a:avLst>
              <a:gd name="adj" fmla="val 457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3544" y="2746247"/>
            <a:ext cx="530352" cy="530352"/>
          </a:xfrm>
          <a:prstGeom prst="roundRect">
            <a:avLst>
              <a:gd name="adj" fmla="val 25000"/>
            </a:avLst>
          </a:prstGeom>
          <a:solidFill>
            <a:srgbClr val="E4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monstr-tim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14" y="2852318"/>
            <a:ext cx="318211" cy="3182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3544" y="3441192"/>
            <a:ext cx="2960522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Always provisional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907536"/>
            <a:ext cx="2960522" cy="85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The best estimate at this moment — nothing more.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9554" y="2490216"/>
            <a:ext cx="3472586" cy="2499360"/>
          </a:xfrm>
          <a:prstGeom prst="roundRect">
            <a:avLst>
              <a:gd name="adj" fmla="val 457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15586" y="2746247"/>
            <a:ext cx="530352" cy="530352"/>
          </a:xfrm>
          <a:prstGeom prst="roundRect">
            <a:avLst>
              <a:gd name="adj" fmla="val 25000"/>
            </a:avLst>
          </a:prstGeom>
          <a:solidFill>
            <a:srgbClr val="E7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monstr-redo-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1656" y="2852318"/>
            <a:ext cx="318211" cy="31821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15586" y="3441192"/>
            <a:ext cx="2960522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Always updatable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5586" y="3907536"/>
            <a:ext cx="2960522" cy="85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New evidence rewrites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596" y="2490216"/>
            <a:ext cx="3472586" cy="2499360"/>
          </a:xfrm>
          <a:prstGeom prst="roundRect">
            <a:avLst>
              <a:gd name="adj" fmla="val 457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07628" y="2746247"/>
            <a:ext cx="530352" cy="530352"/>
          </a:xfrm>
          <a:prstGeom prst="roundRect">
            <a:avLst>
              <a:gd name="adj" fmla="val 25000"/>
            </a:avLst>
          </a:prstGeom>
          <a:solidFill>
            <a:srgbClr val="F8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monstr-bar-chart-th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3699" y="2852318"/>
            <a:ext cx="318211" cy="31821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07628" y="3441192"/>
            <a:ext cx="2960522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>
                <a:solidFill>
                  <a:srgbClr val="1F2937"/>
                </a:solidFill>
                <a:latin typeface="Avenir Next Bold"/>
                <a:ea typeface="Hiragino Sans W6"/>
              </a:rPr>
              <a:t>Strength varies with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7628" y="3907536"/>
            <a:ext cx="2960522" cy="85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A probability distribution over hypothesis space.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24854" y="6108192"/>
            <a:ext cx="6741985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24854" y="6108192"/>
            <a:ext cx="6741985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Avenir Next Bold"/>
                <a:ea typeface="Hiragino Sans W6"/>
              </a:rPr>
              <a:t>Hold the most probable belief — and keep updating it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21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84367" y="21031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9527" y="2331720"/>
            <a:ext cx="9692640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>
                <a:solidFill>
                  <a:srgbClr val="1F2937"/>
                </a:solidFill>
                <a:latin typeface="Avenir Next Bold"/>
                <a:ea typeface="Hiragino Sans W8"/>
              </a:rPr>
              <a:t>A paper is a medium that fixes
questions and beliefs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84367" y="41605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81047" y="443484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Not a "final answer" — a snapshot of the best belief at this moment. Doubt → Inquiry → Paper (Fixed Belief)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22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>
                <a:solidFill>
                  <a:srgbClr val="1F2937"/>
                </a:solidFill>
                <a:latin typeface="Avenir Next Bold"/>
                <a:ea typeface="Hiragino Sans W8"/>
              </a:rPr>
              <a:t>What happens when you fix a belief — why publishing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Avenir Book"/>
                <a:ea typeface="Hiragino Sans W4"/>
              </a:rPr>
              <a:t>Consequences of Fixing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74621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3181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Avenir Next Bold"/>
                <a:ea typeface="Hiragino Sans W8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Paper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3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Fixing the belief — "This is our current best belief."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0370" y="3520439"/>
            <a:ext cx="329184" cy="438912"/>
          </a:xfrm>
          <a:prstGeom prst="chevron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6928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76391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84951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Avenir Next Bold"/>
                <a:ea typeface="Hiragino Sans W8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644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Critique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3874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Peers can challenge, test, and verify</a:t>
            </a:r>
          </a:p>
        </p:txBody>
      </p:sp>
      <p:sp>
        <p:nvSpPr>
          <p:cNvPr id="17" name="Chevron 16"/>
          <p:cNvSpPr/>
          <p:nvPr/>
        </p:nvSpPr>
        <p:spPr>
          <a:xfrm>
            <a:off x="7832140" y="3520439"/>
            <a:ext cx="329184" cy="438912"/>
          </a:xfrm>
          <a:prstGeom prst="chevron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7105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78162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86722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Avenir Next Bold"/>
                <a:ea typeface="Hiragino Sans W8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821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Next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5644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On to the next inquiry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76973" y="6108192"/>
            <a:ext cx="4837747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6973" y="6108192"/>
            <a:ext cx="4837747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Avenir Next Bold"/>
                <a:ea typeface="Hiragino Sans W6"/>
              </a:rPr>
              <a:t>Each paper opens new inquiry cycles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23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84367" y="21031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9527" y="2331720"/>
            <a:ext cx="9692640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>
                <a:solidFill>
                  <a:srgbClr val="1F2937"/>
                </a:solidFill>
                <a:latin typeface="Avenir Next Bold"/>
                <a:ea typeface="Hiragino Sans W8"/>
              </a:rPr>
              <a:t>Inquiry is submitting provisional belief
for public update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84367" y="41605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81047" y="443484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Inquiry as Responsibility — research never ends; it keeps updating. "A paper is a medium to receive Feedback &amp; Error."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24 / 70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0" y="1005840"/>
            <a:ext cx="6400800" cy="4846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27000">
                <a:solidFill>
                  <a:srgbClr val="D9EAEF"/>
                </a:solidFill>
                <a:latin typeface="Avenir Next Bold"/>
                <a:ea typeface="Hiragino Sans W8"/>
              </a:rPr>
              <a:t>02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" y="2240280"/>
            <a:ext cx="75895" cy="1833117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4983" y="2258568"/>
            <a:ext cx="82296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spc="280">
                <a:solidFill>
                  <a:srgbClr val="5D5D5D"/>
                </a:solidFill>
                <a:latin typeface="Avenir Next Bold"/>
                <a:ea typeface="Hiragino Sans W6"/>
              </a:rPr>
              <a:t>SECTION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3" y="2624328"/>
            <a:ext cx="9875520" cy="960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>
                <a:solidFill>
                  <a:srgbClr val="1F2937"/>
                </a:solidFill>
                <a:latin typeface="Avenir Next Bold"/>
                <a:ea typeface="Hiragino Sans W8"/>
              </a:rPr>
              <a:t>Research as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3" y="3497326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>
                <a:solidFill>
                  <a:srgbClr val="7D7E7F"/>
                </a:solidFill>
                <a:latin typeface="Avenir Book"/>
                <a:ea typeface="Hiragino Sans W4"/>
              </a:rPr>
              <a:t>Research stops not because of lack of ability, but because of lack of order and structure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25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84367" y="21031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9527" y="2331720"/>
            <a:ext cx="9692640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>
                <a:solidFill>
                  <a:srgbClr val="1F2937"/>
                </a:solidFill>
                <a:latin typeface="Avenir Next Bold"/>
                <a:ea typeface="Hiragino Sans W8"/>
              </a:rPr>
              <a:t>Research stalls not from lack of data,
but from lack of direction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84367" y="41605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81047" y="443484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Research Stagnation — data increases, analysis proceeds, but what you want to show stays vague (no question)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26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Avenir Next Bold"/>
                <a:ea typeface="Hiragino Sans W8"/>
              </a:rPr>
              <a:t>Failure pattern: Data-First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Avenir Book"/>
                <a:ea typeface="Hiragino Sans W4"/>
              </a:rPr>
              <a:t>Start with data. Hope meaning emerges later.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74621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3181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Avenir Next Bold"/>
                <a:ea typeface="Hiragino Sans W8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Just experiment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3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🧪 Move your hands first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0370" y="3520439"/>
            <a:ext cx="329184" cy="438912"/>
          </a:xfrm>
          <a:prstGeom prst="chevron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6928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76391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84951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Avenir Next Bold"/>
                <a:ea typeface="Hiragino Sans W8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644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Just analyze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3874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📊 Analyze whatever came out</a:t>
            </a:r>
          </a:p>
        </p:txBody>
      </p:sp>
      <p:sp>
        <p:nvSpPr>
          <p:cNvPr id="17" name="Chevron 16"/>
          <p:cNvSpPr/>
          <p:nvPr/>
        </p:nvSpPr>
        <p:spPr>
          <a:xfrm>
            <a:off x="7832140" y="3520439"/>
            <a:ext cx="329184" cy="438912"/>
          </a:xfrm>
          <a:prstGeom prst="chevron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7105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78162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86722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Avenir Next Bold"/>
                <a:ea typeface="Hiragino Sans W8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821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Meaning later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5644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❓ Exploration without direction — the wandering loop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16668" y="6108192"/>
            <a:ext cx="5158359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16668" y="6108192"/>
            <a:ext cx="5158359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Avenir Next Bold"/>
                <a:ea typeface="Hiragino Sans W6"/>
              </a:rPr>
              <a:t>This is not design. This is wandering.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27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Avenir Next Bold"/>
                <a:ea typeface="Hiragino Sans W8"/>
              </a:rPr>
              <a:t>The correct order: Framing is the 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Avenir Book"/>
                <a:ea typeface="Hiragino Sans W4"/>
              </a:rPr>
              <a:t>Order is everything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2162556"/>
            <a:ext cx="2302687" cy="3154680"/>
          </a:xfrm>
          <a:prstGeom prst="roundRect">
            <a:avLst>
              <a:gd name="adj" fmla="val 496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99399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7959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Avenir Next Bold"/>
                <a:ea typeface="Hiragino Sans W8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031235"/>
            <a:ext cx="202836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3" y="3698748"/>
            <a:ext cx="1973503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Where it starts</a:t>
            </a:r>
          </a:p>
        </p:txBody>
      </p:sp>
      <p:sp>
        <p:nvSpPr>
          <p:cNvPr id="11" name="Chevron 10"/>
          <p:cNvSpPr/>
          <p:nvPr/>
        </p:nvSpPr>
        <p:spPr>
          <a:xfrm>
            <a:off x="3079927" y="3520439"/>
            <a:ext cx="329184" cy="438912"/>
          </a:xfrm>
          <a:prstGeom prst="chevron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18839" y="2162556"/>
            <a:ext cx="2302687" cy="3154680"/>
          </a:xfrm>
          <a:prstGeom prst="roundRect">
            <a:avLst>
              <a:gd name="adj" fmla="val 496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50727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9287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Avenir Next Bold"/>
                <a:ea typeface="Hiragino Sans W8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5999" y="3031235"/>
            <a:ext cx="202836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Framing 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3431" y="3698748"/>
            <a:ext cx="1973503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KEY STEP — everything downstream depends on it</a:t>
            </a:r>
          </a:p>
        </p:txBody>
      </p:sp>
      <p:sp>
        <p:nvSpPr>
          <p:cNvPr id="17" name="Chevron 16"/>
          <p:cNvSpPr/>
          <p:nvPr/>
        </p:nvSpPr>
        <p:spPr>
          <a:xfrm>
            <a:off x="5931255" y="3520439"/>
            <a:ext cx="329184" cy="438912"/>
          </a:xfrm>
          <a:prstGeom prst="chevron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70167" y="2162556"/>
            <a:ext cx="2302687" cy="3154680"/>
          </a:xfrm>
          <a:prstGeom prst="roundRect">
            <a:avLst>
              <a:gd name="adj" fmla="val 496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02055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10615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Avenir Next Bold"/>
                <a:ea typeface="Hiragino Sans W8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327" y="3031235"/>
            <a:ext cx="202836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Figures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4759" y="3698748"/>
            <a:ext cx="1973503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Design the figures</a:t>
            </a:r>
          </a:p>
        </p:txBody>
      </p:sp>
      <p:sp>
        <p:nvSpPr>
          <p:cNvPr id="23" name="Chevron 22"/>
          <p:cNvSpPr/>
          <p:nvPr/>
        </p:nvSpPr>
        <p:spPr>
          <a:xfrm>
            <a:off x="8782583" y="3520439"/>
            <a:ext cx="329184" cy="438912"/>
          </a:xfrm>
          <a:prstGeom prst="chevron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21495" y="2162556"/>
            <a:ext cx="2302687" cy="3154680"/>
          </a:xfrm>
          <a:prstGeom prst="roundRect">
            <a:avLst>
              <a:gd name="adj" fmla="val 496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153383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61943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Avenir Next Bold"/>
                <a:ea typeface="Hiragino Sans W8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58655" y="3031235"/>
            <a:ext cx="202836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Draft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86087" y="3698748"/>
            <a:ext cx="1973503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Write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37067" y="6108192"/>
            <a:ext cx="7917561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37067" y="6108192"/>
            <a:ext cx="7917561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Avenir Next Bold"/>
                <a:ea typeface="Hiragino Sans W6"/>
              </a:rPr>
              <a:t>Order is everything — Framing is the blueprint of your research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28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Avenir Next Bold"/>
                <a:ea typeface="Hiragino Sans W8"/>
              </a:rPr>
              <a:t>What is Framing?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Avenir Book"/>
                <a:ea typeface="Hiragino Sans W4"/>
              </a:rPr>
              <a:t>Only three things to write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517904"/>
            <a:ext cx="10856671" cy="1383791"/>
          </a:xfrm>
          <a:prstGeom prst="roundRect">
            <a:avLst>
              <a:gd name="adj" fmla="val 8259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1832" y="1972055"/>
            <a:ext cx="475488" cy="47548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972055"/>
            <a:ext cx="6583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72">
                <a:solidFill>
                  <a:srgbClr val="FFFFFF"/>
                </a:solidFill>
                <a:latin typeface="Avenir Next Bold"/>
                <a:ea typeface="Hiragino Sans W8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5064" y="1517904"/>
            <a:ext cx="9576511" cy="13837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Core Question in one sentence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" y="3047999"/>
            <a:ext cx="10856671" cy="1383791"/>
          </a:xfrm>
          <a:prstGeom prst="roundRect">
            <a:avLst>
              <a:gd name="adj" fmla="val 8259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1832" y="3502152"/>
            <a:ext cx="475488" cy="47548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502152"/>
            <a:ext cx="6583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72">
                <a:solidFill>
                  <a:srgbClr val="FFFFFF"/>
                </a:solidFill>
                <a:latin typeface="Avenir Next Bold"/>
                <a:ea typeface="Hiragino Sans W8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55064" y="3047999"/>
            <a:ext cx="9576511" cy="13837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State the difference: "Compared to X, we Y."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" y="4578095"/>
            <a:ext cx="10856671" cy="1383791"/>
          </a:xfrm>
          <a:prstGeom prst="roundRect">
            <a:avLst>
              <a:gd name="adj" fmla="val 8259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1832" y="5032248"/>
            <a:ext cx="475488" cy="47548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5032248"/>
            <a:ext cx="6583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72">
                <a:solidFill>
                  <a:srgbClr val="FFFFFF"/>
                </a:solidFill>
                <a:latin typeface="Avenir Next Bold"/>
                <a:ea typeface="Hiragino Sans W8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55064" y="4578095"/>
            <a:ext cx="9576511" cy="13837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Key contributions — three at most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56362" y="6108192"/>
            <a:ext cx="5478970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56362" y="6108192"/>
            <a:ext cx="5478970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Avenir Next Bold"/>
                <a:ea typeface="Hiragino Sans W6"/>
              </a:rPr>
              <a:t>Don't write results. Don't write methods.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29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Avenir Next Bold"/>
                <a:ea typeface="Hiragino Sans W8"/>
              </a:rPr>
              <a:t>Weak framing = total collapse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Avenir Book"/>
                <a:ea typeface="Hiragino Sans W4"/>
              </a:rPr>
              <a:t>The same study, two questions</a:t>
            </a:r>
          </a:p>
        </p:txBody>
      </p:sp>
      <p:sp>
        <p:nvSpPr>
          <p:cNvPr id="6" name="Chevron 5"/>
          <p:cNvSpPr/>
          <p:nvPr/>
        </p:nvSpPr>
        <p:spPr>
          <a:xfrm>
            <a:off x="5867247" y="3456432"/>
            <a:ext cx="457200" cy="566928"/>
          </a:xfrm>
          <a:prstGeom prst="chevron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7512" y="1517904"/>
            <a:ext cx="4948275" cy="4443983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1832" y="1773936"/>
            <a:ext cx="2098852" cy="384048"/>
          </a:xfrm>
          <a:prstGeom prst="roundRect">
            <a:avLst>
              <a:gd name="adj" fmla="val 19047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773936"/>
            <a:ext cx="2098852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>
                <a:solidFill>
                  <a:srgbClr val="5D5D5D"/>
                </a:solidFill>
                <a:latin typeface="Avenir Next Bold"/>
                <a:ea typeface="Hiragino Sans W6"/>
              </a:rPr>
              <a:t>✕ Vague question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2725928"/>
            <a:ext cx="219456" cy="219456"/>
          </a:xfrm>
          <a:prstGeom prst="ellipse">
            <a:avLst/>
          </a:prstGeom>
          <a:solidFill>
            <a:srgbClr val="7D7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25928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>
                <a:solidFill>
                  <a:srgbClr val="FFFFFF"/>
                </a:solidFill>
                <a:latin typeface="Avenir Next Bold"/>
                <a:ea typeface="Hiragino Sans W6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" y="2496312"/>
            <a:ext cx="4052163" cy="75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"We studied X and found something interesting..."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3889247"/>
            <a:ext cx="219456" cy="219456"/>
          </a:xfrm>
          <a:prstGeom prst="ellipse">
            <a:avLst/>
          </a:prstGeom>
          <a:solidFill>
            <a:srgbClr val="7D7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889247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>
                <a:solidFill>
                  <a:srgbClr val="FFFFFF"/>
                </a:solidFill>
                <a:latin typeface="Avenir Next Bold"/>
                <a:ea typeface="Hiragino Sans W6"/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9304" y="3659632"/>
            <a:ext cx="4052163" cy="75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What's new? Under what conditions? Unclear.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75907" y="1517904"/>
            <a:ext cx="4948275" cy="4443983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0227" y="1773936"/>
            <a:ext cx="2679192" cy="384048"/>
          </a:xfrm>
          <a:prstGeom prst="roundRect">
            <a:avLst>
              <a:gd name="adj" fmla="val 19047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0227" y="1773936"/>
            <a:ext cx="2679192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>
                <a:solidFill>
                  <a:srgbClr val="FFFFFF"/>
                </a:solidFill>
                <a:latin typeface="Avenir Next Bold"/>
                <a:ea typeface="Hiragino Sans W6"/>
              </a:rPr>
              <a:t>○ Structured question</a:t>
            </a:r>
          </a:p>
        </p:txBody>
      </p:sp>
      <p:sp>
        <p:nvSpPr>
          <p:cNvPr id="19" name="Oval 18"/>
          <p:cNvSpPr/>
          <p:nvPr/>
        </p:nvSpPr>
        <p:spPr>
          <a:xfrm>
            <a:off x="6868515" y="2891028"/>
            <a:ext cx="219456" cy="21945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77075" y="2891028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>
                <a:solidFill>
                  <a:srgbClr val="FFFFFF"/>
                </a:solidFill>
                <a:latin typeface="Avenir Next Bold"/>
                <a:ea typeface="Hiragino Sans W6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97699" y="2496312"/>
            <a:ext cx="4052163" cy="1082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"Compared to prior method X, our approach Y achieves </a:t>
            </a:r>
            <a:r>
              <a:rPr sz="2000">
                <a:solidFill>
                  <a:srgbClr val="9C8545"/>
                </a:solidFill>
                <a:latin typeface="Avenir Next Bold"/>
                <a:ea typeface="Hiragino Sans W6"/>
              </a:rPr>
              <a:t>Z</a:t>
            </a: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 under condition C."</a:t>
            </a:r>
          </a:p>
        </p:txBody>
      </p:sp>
      <p:sp>
        <p:nvSpPr>
          <p:cNvPr id="22" name="Oval 21"/>
          <p:cNvSpPr/>
          <p:nvPr/>
        </p:nvSpPr>
        <p:spPr>
          <a:xfrm>
            <a:off x="6868515" y="4219447"/>
            <a:ext cx="219456" cy="21945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77075" y="4219447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>
                <a:solidFill>
                  <a:srgbClr val="FFFFFF"/>
                </a:solidFill>
                <a:latin typeface="Avenir Next Bold"/>
                <a:ea typeface="Hiragino Sans W6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97699" y="3989832"/>
            <a:ext cx="4052163" cy="75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Difference, result, and condition — all in one sentence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15139" y="6108192"/>
            <a:ext cx="6761416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15139" y="6108192"/>
            <a:ext cx="6761416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Avenir Next Bold"/>
                <a:ea typeface="Hiragino Sans W6"/>
              </a:rPr>
              <a:t>State your question in the "Compared to X, we Y" form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30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Avenir Next Bold"/>
                <a:ea typeface="Hiragino Sans W8"/>
              </a:rPr>
              <a:t>Every good research question fits a 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Avenir Book"/>
                <a:ea typeface="Hiragino Sans W4"/>
              </a:rPr>
              <a:t>Question Archetypes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" y="1517904"/>
            <a:ext cx="2560320" cy="475488"/>
          </a:xfrm>
          <a:prstGeom prst="rect">
            <a:avLst/>
          </a:prstGeom>
          <a:solidFill>
            <a:srgbClr val="356F8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517904"/>
            <a:ext cx="256032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>
                <a:solidFill>
                  <a:srgbClr val="FFFFFF"/>
                </a:solidFill>
                <a:latin typeface="Avenir Next Bold"/>
                <a:ea typeface="Hiragino Sans W6"/>
              </a:rPr>
              <a:t>Archetype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27832" y="1517904"/>
            <a:ext cx="8296351" cy="475488"/>
          </a:xfrm>
          <a:prstGeom prst="rect">
            <a:avLst/>
          </a:prstGeom>
          <a:solidFill>
            <a:srgbClr val="207A9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27832" y="1517904"/>
            <a:ext cx="8296351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>
                <a:solidFill>
                  <a:srgbClr val="FFFFFF"/>
                </a:solidFill>
                <a:latin typeface="Avenir Next Bold"/>
                <a:ea typeface="Hiragino Sans W6"/>
              </a:rPr>
              <a:t>Form of the question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" y="1993392"/>
            <a:ext cx="2560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993392"/>
            <a:ext cx="22402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Estimation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27832" y="1993392"/>
            <a:ext cx="8296351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993392"/>
            <a:ext cx="807689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How much / many?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" y="2560320"/>
            <a:ext cx="2560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2560320"/>
            <a:ext cx="22402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Mechanism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27832" y="2560320"/>
            <a:ext cx="8296351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560320"/>
            <a:ext cx="807689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How / why does it work?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" y="3127248"/>
            <a:ext cx="2560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3127248"/>
            <a:ext cx="22402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Validity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27832" y="3127248"/>
            <a:ext cx="8296351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37560" y="3127248"/>
            <a:ext cx="807689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Does method X work?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" y="3694176"/>
            <a:ext cx="2560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3694176"/>
            <a:ext cx="22402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Uncertainty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27832" y="3694176"/>
            <a:ext cx="8296351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37560" y="3694176"/>
            <a:ext cx="807689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What are the limits?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" y="4261104"/>
            <a:ext cx="2560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4261104"/>
            <a:ext cx="22402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Scale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27832" y="4261104"/>
            <a:ext cx="8296351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37560" y="4261104"/>
            <a:ext cx="807689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Does it scale?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7512" y="4828032"/>
            <a:ext cx="2560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" y="4828032"/>
            <a:ext cx="22402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Dynamics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27832" y="4828032"/>
            <a:ext cx="8296351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37560" y="4828032"/>
            <a:ext cx="807689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How does it change?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" y="5394960"/>
            <a:ext cx="2560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392" y="5394960"/>
            <a:ext cx="22402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Design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27832" y="5394960"/>
            <a:ext cx="8296351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37560" y="5394960"/>
            <a:ext cx="807689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How should we build X?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22009" y="6108192"/>
            <a:ext cx="6547675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22009" y="6108192"/>
            <a:ext cx="6547675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Avenir Next Bold"/>
                <a:ea typeface="Hiragino Sans W6"/>
              </a:rPr>
              <a:t>A question that cannot choose an archetype is vague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31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>
                <a:solidFill>
                  <a:srgbClr val="1F2937"/>
                </a:solidFill>
                <a:latin typeface="Avenir Next Bold"/>
                <a:ea typeface="Hiragino Sans W8"/>
              </a:rPr>
              <a:t>Once the question is fixed, the required data is decided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Avenir Book"/>
                <a:ea typeface="Hiragino Sans W4"/>
              </a:rPr>
              <a:t>Question determines everything — data follows 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517904"/>
            <a:ext cx="1417320" cy="1322832"/>
          </a:xfrm>
          <a:prstGeom prst="roundRect">
            <a:avLst>
              <a:gd name="adj" fmla="val 6912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517904"/>
            <a:ext cx="1417320" cy="1322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FFFFFF"/>
                </a:solidFill>
                <a:latin typeface="Avenir Next Bold"/>
                <a:ea typeface="Hiragino Sans W6"/>
              </a:rPr>
              <a:t>Question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59152" y="1517904"/>
            <a:ext cx="9165031" cy="1322832"/>
          </a:xfrm>
          <a:prstGeom prst="roundRect">
            <a:avLst>
              <a:gd name="adj" fmla="val 864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1517904"/>
            <a:ext cx="8579815" cy="1322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Fixed first — structure calls in the data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1220724" y="2859024"/>
            <a:ext cx="310896" cy="201168"/>
          </a:xfrm>
          <a:prstGeom prst="downArrow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" y="3078480"/>
            <a:ext cx="1417320" cy="1322832"/>
          </a:xfrm>
          <a:prstGeom prst="roundRect">
            <a:avLst>
              <a:gd name="adj" fmla="val 6912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3078480"/>
            <a:ext cx="1417320" cy="1322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Avenir Next Bold"/>
                <a:ea typeface="Hiragino Sans W6"/>
              </a:rPr>
              <a:t>Required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59152" y="3078480"/>
            <a:ext cx="9165031" cy="1322832"/>
          </a:xfrm>
          <a:prstGeom prst="roundRect">
            <a:avLst>
              <a:gd name="adj" fmla="val 864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3078480"/>
            <a:ext cx="8579815" cy="1322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Back-calculated from the question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220724" y="4419600"/>
            <a:ext cx="310896" cy="201168"/>
          </a:xfrm>
          <a:prstGeom prst="downArrow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7512" y="4639056"/>
            <a:ext cx="1417320" cy="1322832"/>
          </a:xfrm>
          <a:prstGeom prst="roundRect">
            <a:avLst>
              <a:gd name="adj" fmla="val 6912"/>
            </a:avLst>
          </a:prstGeom>
          <a:solidFill>
            <a:srgbClr val="C6A44A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4639056"/>
            <a:ext cx="1417320" cy="1322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>
                <a:solidFill>
                  <a:srgbClr val="FFFFFF"/>
                </a:solidFill>
                <a:latin typeface="Avenir Next Bold"/>
                <a:ea typeface="Hiragino Sans W6"/>
              </a:rPr>
              <a:t>Method / Experiment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59152" y="4639056"/>
            <a:ext cx="9165031" cy="1322832"/>
          </a:xfrm>
          <a:prstGeom prst="roundRect">
            <a:avLst>
              <a:gd name="adj" fmla="val 864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51760" y="4989576"/>
            <a:ext cx="8579815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Methods and experiments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5355336"/>
            <a:ext cx="8579815" cy="5699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Data comes later.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86825" y="6108192"/>
            <a:ext cx="7218045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86825" y="6108192"/>
            <a:ext cx="7218045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Avenir Next Bold"/>
                <a:ea typeface="Hiragino Sans W6"/>
              </a:rPr>
              <a:t>✕ Data → hope for meaning ／ ○ Question → required data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32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Avenir Next Bold"/>
                <a:ea typeface="Hiragino Sans W8"/>
              </a:rPr>
              <a:t>1 figure = 1 claim — figures are the claim itself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Avenir Book"/>
                <a:ea typeface="Hiragino Sans W4"/>
              </a:rPr>
              <a:t>Figures are arguments, not illustrations</a:t>
            </a:r>
          </a:p>
        </p:txBody>
      </p:sp>
      <p:sp>
        <p:nvSpPr>
          <p:cNvPr id="6" name="Chevron 5"/>
          <p:cNvSpPr/>
          <p:nvPr/>
        </p:nvSpPr>
        <p:spPr>
          <a:xfrm>
            <a:off x="5867247" y="3456432"/>
            <a:ext cx="457200" cy="566928"/>
          </a:xfrm>
          <a:prstGeom prst="chevron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7512" y="1517904"/>
            <a:ext cx="4948275" cy="4443983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1832" y="1773936"/>
            <a:ext cx="1188720" cy="384048"/>
          </a:xfrm>
          <a:prstGeom prst="roundRect">
            <a:avLst>
              <a:gd name="adj" fmla="val 19047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773936"/>
            <a:ext cx="118872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>
                <a:solidFill>
                  <a:srgbClr val="5D5D5D"/>
                </a:solidFill>
                <a:latin typeface="Avenir Next Bold"/>
                <a:ea typeface="Hiragino Sans W6"/>
              </a:rPr>
              <a:t>BAD ✕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2725928"/>
            <a:ext cx="219456" cy="219456"/>
          </a:xfrm>
          <a:prstGeom prst="ellipse">
            <a:avLst/>
          </a:prstGeom>
          <a:solidFill>
            <a:srgbClr val="7D7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25928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>
                <a:solidFill>
                  <a:srgbClr val="FFFFFF"/>
                </a:solidFill>
                <a:latin typeface="Avenir Next Bold"/>
                <a:ea typeface="Hiragino Sans W6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" y="2496312"/>
            <a:ext cx="4052163" cy="75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Claim A and Claim B crammed into one figure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3889247"/>
            <a:ext cx="219456" cy="219456"/>
          </a:xfrm>
          <a:prstGeom prst="ellipse">
            <a:avLst/>
          </a:prstGeom>
          <a:solidFill>
            <a:srgbClr val="7D7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889247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>
                <a:solidFill>
                  <a:srgbClr val="FFFFFF"/>
                </a:solidFill>
                <a:latin typeface="Avenir Next Bold"/>
                <a:ea typeface="Hiragino Sans W6"/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9304" y="3659632"/>
            <a:ext cx="4052163" cy="75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Readers can't tell what to take away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75907" y="1517904"/>
            <a:ext cx="4948275" cy="4443983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0227" y="1773936"/>
            <a:ext cx="1188720" cy="384048"/>
          </a:xfrm>
          <a:prstGeom prst="roundRect">
            <a:avLst>
              <a:gd name="adj" fmla="val 19047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0227" y="1773936"/>
            <a:ext cx="118872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>
                <a:solidFill>
                  <a:srgbClr val="FFFFFF"/>
                </a:solidFill>
                <a:latin typeface="Avenir Next Bold"/>
                <a:ea typeface="Hiragino Sans W6"/>
              </a:rPr>
              <a:t>GOOD ○</a:t>
            </a:r>
          </a:p>
        </p:txBody>
      </p:sp>
      <p:sp>
        <p:nvSpPr>
          <p:cNvPr id="19" name="Oval 18"/>
          <p:cNvSpPr/>
          <p:nvPr/>
        </p:nvSpPr>
        <p:spPr>
          <a:xfrm>
            <a:off x="6868515" y="2560828"/>
            <a:ext cx="219456" cy="21945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77075" y="2560828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>
                <a:solidFill>
                  <a:srgbClr val="FFFFFF"/>
                </a:solidFill>
                <a:latin typeface="Avenir Next Bold"/>
                <a:ea typeface="Hiragino Sans W6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97699" y="2496312"/>
            <a:ext cx="4052163" cy="42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9C8545"/>
                </a:solidFill>
                <a:latin typeface="Avenir Next Bold"/>
                <a:ea typeface="Hiragino Sans W6"/>
              </a:rPr>
              <a:t>One</a:t>
            </a: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 claim per figure</a:t>
            </a:r>
          </a:p>
        </p:txBody>
      </p:sp>
      <p:sp>
        <p:nvSpPr>
          <p:cNvPr id="22" name="Oval 21"/>
          <p:cNvSpPr/>
          <p:nvPr/>
        </p:nvSpPr>
        <p:spPr>
          <a:xfrm>
            <a:off x="6868515" y="3559048"/>
            <a:ext cx="219456" cy="21945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77075" y="3559048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>
                <a:solidFill>
                  <a:srgbClr val="FFFFFF"/>
                </a:solidFill>
                <a:latin typeface="Avenir Next Bold"/>
                <a:ea typeface="Hiragino Sans W6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97699" y="3329432"/>
            <a:ext cx="4052163" cy="75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Claim B goes to the next figure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97585" y="6108192"/>
            <a:ext cx="4196524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97585" y="6108192"/>
            <a:ext cx="4196524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Avenir Next Bold"/>
                <a:ea typeface="Hiragino Sans W6"/>
              </a:rPr>
              <a:t>Read papers via figures first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33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Avenir Next Bold"/>
                <a:ea typeface="Hiragino Sans W8"/>
              </a:rPr>
              <a:t>Structure defines productivity — not 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Avenir Book"/>
                <a:ea typeface="Hiragino Sans W4"/>
              </a:rPr>
              <a:t>It's architecture, not talent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517904"/>
            <a:ext cx="5245455" cy="4443983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55648"/>
            <a:ext cx="4660239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High 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194560"/>
            <a:ext cx="502920" cy="32004"/>
          </a:xfrm>
          <a:prstGeom prst="roundRect">
            <a:avLst>
              <a:gd name="adj" fmla="val 48571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54046"/>
            <a:ext cx="82296" cy="8229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97864" y="251460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Framing → Figures → Draft → Submit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3888485"/>
            <a:ext cx="82296" cy="8229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3749039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Design quality determines 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727" y="1517904"/>
            <a:ext cx="5245455" cy="4443983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71335" y="1755648"/>
            <a:ext cx="4660239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Low Structure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71335" y="2194560"/>
            <a:ext cx="502920" cy="32004"/>
          </a:xfrm>
          <a:prstGeom prst="roundRect">
            <a:avLst>
              <a:gd name="adj" fmla="val 48571"/>
            </a:avLst>
          </a:prstGeom>
          <a:solidFill>
            <a:srgbClr val="35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71335" y="2654046"/>
            <a:ext cx="82296" cy="82296"/>
          </a:xfrm>
          <a:prstGeom prst="ellipse">
            <a:avLst/>
          </a:prstGeom>
          <a:solidFill>
            <a:srgbClr val="35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9079" y="251460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Data → ??? → Repeat</a:t>
            </a:r>
          </a:p>
        </p:txBody>
      </p:sp>
      <p:sp>
        <p:nvSpPr>
          <p:cNvPr id="18" name="Oval 17"/>
          <p:cNvSpPr/>
          <p:nvPr/>
        </p:nvSpPr>
        <p:spPr>
          <a:xfrm>
            <a:off x="6571335" y="3545586"/>
            <a:ext cx="82296" cy="82296"/>
          </a:xfrm>
          <a:prstGeom prst="ellipse">
            <a:avLst/>
          </a:prstGeom>
          <a:solidFill>
            <a:srgbClr val="35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09079" y="340614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Same hours, no output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76761" y="6108192"/>
            <a:ext cx="8238172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76761" y="6108192"/>
            <a:ext cx="8238172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Avenir Next Bold"/>
                <a:ea typeface="Hiragino Sans W6"/>
              </a:rPr>
              <a:t>Same time investment, different output — back to why we need an OS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34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Avenir Next Bold"/>
                <a:ea typeface="Hiragino Sans W8"/>
              </a:rPr>
              <a:t>Paper Card: the device that fixes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Avenir Book"/>
                <a:ea typeface="Hiragino Sans W4"/>
              </a:rPr>
              <a:t>From uncertain idea (Doubt) to confident design (Belief)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517904"/>
            <a:ext cx="10856671" cy="771753"/>
          </a:xfrm>
          <a:prstGeom prst="roundRect">
            <a:avLst>
              <a:gd name="adj" fmla="val 1481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1832" y="1666036"/>
            <a:ext cx="475488" cy="47548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666036"/>
            <a:ext cx="6583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72">
                <a:solidFill>
                  <a:srgbClr val="FFFFFF"/>
                </a:solidFill>
                <a:latin typeface="Avenir Next Bold"/>
                <a:ea typeface="Hiragino Sans W8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5064" y="1640605"/>
            <a:ext cx="9576511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Core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55064" y="2006365"/>
            <a:ext cx="9576511" cy="197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>
                <a:solidFill>
                  <a:srgbClr val="5D5D5D"/>
                </a:solidFill>
                <a:latin typeface="Avenir Book"/>
                <a:ea typeface="Hiragino Sans W4"/>
              </a:rPr>
              <a:t>One sentence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" y="2435961"/>
            <a:ext cx="10856671" cy="771753"/>
          </a:xfrm>
          <a:prstGeom prst="roundRect">
            <a:avLst>
              <a:gd name="adj" fmla="val 1481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1832" y="2584094"/>
            <a:ext cx="475488" cy="47548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584094"/>
            <a:ext cx="6583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72">
                <a:solidFill>
                  <a:srgbClr val="FFFFFF"/>
                </a:solidFill>
                <a:latin typeface="Avenir Next Bold"/>
                <a:ea typeface="Hiragino Sans W8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55064" y="2558662"/>
            <a:ext cx="9576511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Compared to X, we 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" y="2924422"/>
            <a:ext cx="9576511" cy="197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>
                <a:solidFill>
                  <a:srgbClr val="5D5D5D"/>
                </a:solidFill>
                <a:latin typeface="Avenir Book"/>
                <a:ea typeface="Hiragino Sans W4"/>
              </a:rPr>
              <a:t>State the difference from prior work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" y="3354019"/>
            <a:ext cx="10856671" cy="771753"/>
          </a:xfrm>
          <a:prstGeom prst="roundRect">
            <a:avLst>
              <a:gd name="adj" fmla="val 1481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41832" y="3502152"/>
            <a:ext cx="475488" cy="47548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502152"/>
            <a:ext cx="6583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72">
                <a:solidFill>
                  <a:srgbClr val="FFFFFF"/>
                </a:solidFill>
                <a:latin typeface="Avenir Next Bold"/>
                <a:ea typeface="Hiragino Sans W8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55064" y="3476720"/>
            <a:ext cx="9576511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Key Contributions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5064" y="3842480"/>
            <a:ext cx="9576511" cy="197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>
                <a:solidFill>
                  <a:srgbClr val="5D5D5D"/>
                </a:solidFill>
                <a:latin typeface="Avenir Book"/>
                <a:ea typeface="Hiragino Sans W4"/>
              </a:rPr>
              <a:t>Three at most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" y="4272076"/>
            <a:ext cx="10856671" cy="771753"/>
          </a:xfrm>
          <a:prstGeom prst="roundRect">
            <a:avLst>
              <a:gd name="adj" fmla="val 1481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1832" y="4420209"/>
            <a:ext cx="475488" cy="47548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4420209"/>
            <a:ext cx="6583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72">
                <a:solidFill>
                  <a:srgbClr val="FFFFFF"/>
                </a:solidFill>
                <a:latin typeface="Avenir Next Bold"/>
                <a:ea typeface="Hiragino Sans W8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55064" y="4394777"/>
            <a:ext cx="9576511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Main Figures (sketch)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55064" y="4760537"/>
            <a:ext cx="9576511" cy="197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>
                <a:solidFill>
                  <a:srgbClr val="5D5D5D"/>
                </a:solidFill>
                <a:latin typeface="Avenir Book"/>
                <a:ea typeface="Hiragino Sans W4"/>
              </a:rPr>
              <a:t>Layout of the figures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" y="5190134"/>
            <a:ext cx="10856671" cy="771753"/>
          </a:xfrm>
          <a:prstGeom prst="roundRect">
            <a:avLst>
              <a:gd name="adj" fmla="val 1481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1832" y="5338267"/>
            <a:ext cx="475488" cy="47548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" y="5338267"/>
            <a:ext cx="6583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72">
                <a:solidFill>
                  <a:srgbClr val="FFFFFF"/>
                </a:solidFill>
                <a:latin typeface="Avenir Next Bold"/>
                <a:ea typeface="Hiragino Sans W8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55064" y="5312835"/>
            <a:ext cx="9576511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Contribution Statement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55064" y="5678595"/>
            <a:ext cx="9576511" cy="197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>
                <a:solidFill>
                  <a:srgbClr val="5D5D5D"/>
                </a:solidFill>
                <a:latin typeface="Avenir Book"/>
                <a:ea typeface="Hiragino Sans W4"/>
              </a:rPr>
              <a:t>Summary of the contribution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15487" y="6108192"/>
            <a:ext cx="5760720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15487" y="6108192"/>
            <a:ext cx="5760720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Avenir Next Bold"/>
                <a:ea typeface="Hiragino Sans W6"/>
              </a:rPr>
              <a:t>Structure before data — No Card → No Paper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35 / 70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0" y="1005840"/>
            <a:ext cx="6400800" cy="4846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27000">
                <a:solidFill>
                  <a:srgbClr val="D9EAEF"/>
                </a:solidFill>
                <a:latin typeface="Avenir Next Bold"/>
                <a:ea typeface="Hiragino Sans W8"/>
              </a:rPr>
              <a:t>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" y="2240280"/>
            <a:ext cx="75895" cy="1811210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4983" y="2258568"/>
            <a:ext cx="82296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spc="280">
                <a:solidFill>
                  <a:srgbClr val="5D5D5D"/>
                </a:solidFill>
                <a:latin typeface="Avenir Next Bold"/>
                <a:ea typeface="Hiragino Sans W6"/>
              </a:rPr>
              <a:t>SECTION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3" y="2624328"/>
            <a:ext cx="9875520" cy="960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450">
                <a:solidFill>
                  <a:srgbClr val="1F2937"/>
                </a:solidFill>
                <a:latin typeface="Avenir Next Bold"/>
                <a:ea typeface="Hiragino Sans W8"/>
              </a:rPr>
              <a:t>Paper Types &amp; Responsibilities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3" y="3475418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>
                <a:solidFill>
                  <a:srgbClr val="7D7E7F"/>
                </a:solidFill>
                <a:latin typeface="Avenir Book"/>
                <a:ea typeface="Hiragino Sans W4"/>
              </a:rPr>
              <a:t>Belief takes multiple forms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36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84367" y="21031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9527" y="2331720"/>
            <a:ext cx="9692640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>
                <a:solidFill>
                  <a:srgbClr val="1F2937"/>
                </a:solidFill>
                <a:latin typeface="Avenir Next Bold"/>
                <a:ea typeface="Hiragino Sans W8"/>
              </a:rPr>
              <a:t>Paper types are not ranks.
They differ only in scope of belief.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84367" y="41605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81047" y="443484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Original / Review / Technical / Short — equal standing, no hierarchy. Same "belief", different zoom levels.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37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Avenir Next Bold"/>
                <a:ea typeface="Hiragino Sans W8"/>
              </a:rPr>
              <a:t>Four basic formats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Avenir Book"/>
                <a:ea typeface="Hiragino Sans W4"/>
              </a:rPr>
              <a:t>Four ways to fix a belief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517904"/>
            <a:ext cx="5327751" cy="2121408"/>
          </a:xfrm>
          <a:prstGeom prst="roundRect">
            <a:avLst>
              <a:gd name="adj" fmla="val 538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23544" y="1755648"/>
            <a:ext cx="329184" cy="329184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1755648"/>
            <a:ext cx="51206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>
                <a:solidFill>
                  <a:srgbClr val="FFFFFF"/>
                </a:solidFill>
                <a:latin typeface="Avenir Next Bold"/>
                <a:ea typeface="Hiragino Sans W8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1737360"/>
            <a:ext cx="4367631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Original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304288"/>
            <a:ext cx="4779111" cy="1124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A new claim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6431" y="1517904"/>
            <a:ext cx="5327751" cy="2121408"/>
          </a:xfrm>
          <a:prstGeom prst="roundRect">
            <a:avLst>
              <a:gd name="adj" fmla="val 538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52463" y="1755648"/>
            <a:ext cx="329184" cy="329184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1023" y="1755648"/>
            <a:ext cx="51206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>
                <a:solidFill>
                  <a:srgbClr val="FFFFFF"/>
                </a:solidFill>
                <a:latin typeface="Avenir Next Bold"/>
                <a:ea typeface="Hiragino Sans W8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7951" y="1737360"/>
            <a:ext cx="4367631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0751" y="2304288"/>
            <a:ext cx="4779111" cy="1124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Reframing the questions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" y="3840480"/>
            <a:ext cx="5327751" cy="2121408"/>
          </a:xfrm>
          <a:prstGeom prst="roundRect">
            <a:avLst>
              <a:gd name="adj" fmla="val 538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4078224"/>
            <a:ext cx="329184" cy="329184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" y="4078224"/>
            <a:ext cx="51206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>
                <a:solidFill>
                  <a:srgbClr val="FFFFFF"/>
                </a:solidFill>
                <a:latin typeface="Avenir Next Bold"/>
                <a:ea typeface="Hiragino Sans W8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2" y="4059936"/>
            <a:ext cx="4367631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Technical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4626864"/>
            <a:ext cx="4779111" cy="1124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Methodological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6431" y="3840480"/>
            <a:ext cx="5327751" cy="2121408"/>
          </a:xfrm>
          <a:prstGeom prst="roundRect">
            <a:avLst>
              <a:gd name="adj" fmla="val 538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52463" y="4078224"/>
            <a:ext cx="329184" cy="329184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1023" y="4078224"/>
            <a:ext cx="51206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>
                <a:solidFill>
                  <a:srgbClr val="FFFFFF"/>
                </a:solidFill>
                <a:latin typeface="Avenir Next Bold"/>
                <a:ea typeface="Hiragino Sans W8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7951" y="4059936"/>
            <a:ext cx="4367631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Short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0751" y="4626864"/>
            <a:ext cx="4779111" cy="1124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A limited claim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97585" y="6108192"/>
            <a:ext cx="4196524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97585" y="6108192"/>
            <a:ext cx="4196524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Avenir Next Bold"/>
                <a:ea typeface="Hiragino Sans W6"/>
              </a:rPr>
              <a:t>Formats are tools, not status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38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Avenir Next Bold"/>
                <a:ea typeface="Hiragino Sans W8"/>
              </a:rPr>
              <a:t>Venues differ: one axis is speed, the other is rigor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Avenir Book"/>
                <a:ea typeface="Hiragino Sans W4"/>
              </a:rPr>
              <a:t>Venues of Publication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2490216"/>
            <a:ext cx="3472586" cy="2499360"/>
          </a:xfrm>
          <a:prstGeom prst="roundRect">
            <a:avLst>
              <a:gd name="adj" fmla="val 457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3544" y="2746247"/>
            <a:ext cx="530352" cy="530352"/>
          </a:xfrm>
          <a:prstGeom prst="roundRect">
            <a:avLst>
              <a:gd name="adj" fmla="val 25000"/>
            </a:avLst>
          </a:prstGeom>
          <a:solidFill>
            <a:srgbClr val="E4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monstr-speech-bubble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14" y="2852318"/>
            <a:ext cx="318211" cy="3182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3544" y="3441192"/>
            <a:ext cx="2960522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Conference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907536"/>
            <a:ext cx="2960522" cy="85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Start a discussion. Speed first.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9554" y="2490216"/>
            <a:ext cx="3472586" cy="2499360"/>
          </a:xfrm>
          <a:prstGeom prst="roundRect">
            <a:avLst>
              <a:gd name="adj" fmla="val 457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15586" y="2746247"/>
            <a:ext cx="530352" cy="530352"/>
          </a:xfrm>
          <a:prstGeom prst="roundRect">
            <a:avLst>
              <a:gd name="adj" fmla="val 25000"/>
            </a:avLst>
          </a:prstGeom>
          <a:solidFill>
            <a:srgbClr val="E7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monstr-file-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1656" y="2852318"/>
            <a:ext cx="318211" cy="31821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15586" y="3441192"/>
            <a:ext cx="2960522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Journal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5586" y="3907536"/>
            <a:ext cx="2960522" cy="85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Rigorous verification. Rigor first.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596" y="2490216"/>
            <a:ext cx="3472586" cy="2499360"/>
          </a:xfrm>
          <a:prstGeom prst="roundRect">
            <a:avLst>
              <a:gd name="adj" fmla="val 457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07628" y="2746247"/>
            <a:ext cx="530352" cy="530352"/>
          </a:xfrm>
          <a:prstGeom prst="roundRect">
            <a:avLst>
              <a:gd name="adj" fmla="val 25000"/>
            </a:avLst>
          </a:prstGeom>
          <a:solidFill>
            <a:srgbClr val="F8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monstr-school-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3699" y="2852318"/>
            <a:ext cx="318211" cy="31821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07628" y="3441192"/>
            <a:ext cx="2960522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Thesis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7628" y="3907536"/>
            <a:ext cx="2960522" cy="85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Integrated accountability.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11113" y="6108192"/>
            <a:ext cx="7169467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1113" y="6108192"/>
            <a:ext cx="7169467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Avenir Next Bold"/>
                <a:ea typeface="Hiragino Sans W6"/>
              </a:rPr>
              <a:t>Different venues, different roles — use them accordingly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39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84367" y="21031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9527" y="2331720"/>
            <a:ext cx="9692640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>
                <a:solidFill>
                  <a:srgbClr val="1F2937"/>
                </a:solidFill>
                <a:latin typeface="Avenir Next Bold"/>
                <a:ea typeface="Hiragino Sans W8"/>
              </a:rPr>
              <a:t>A thesis is internal accountability.
A journal is external verification.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84367" y="41605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81047" y="443484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Why a journal is necessary — Inquiry completes in public space. Lab → Scientific Community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40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Avenir Next Bold"/>
                <a:ea typeface="Hiragino Sans W8"/>
              </a:rPr>
              <a:t>The paper type follows the research phase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Avenir Book"/>
                <a:ea typeface="Hiragino Sans W4"/>
              </a:rPr>
              <a:t>Research Phase and Paper Type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74621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3181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Avenir Next Bold"/>
                <a:ea typeface="Hiragino Sans W8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Exploration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3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Fix small pieces with Short / Technical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0370" y="3520439"/>
            <a:ext cx="329184" cy="438912"/>
          </a:xfrm>
          <a:prstGeom prst="chevron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6928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76391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84951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Avenir Next Bold"/>
                <a:ea typeface="Hiragino Sans W8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644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Stability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3874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Put out new claims with Original</a:t>
            </a:r>
          </a:p>
        </p:txBody>
      </p:sp>
      <p:sp>
        <p:nvSpPr>
          <p:cNvPr id="17" name="Chevron 16"/>
          <p:cNvSpPr/>
          <p:nvPr/>
        </p:nvSpPr>
        <p:spPr>
          <a:xfrm>
            <a:off x="7832140" y="3520439"/>
            <a:ext cx="329184" cy="438912"/>
          </a:xfrm>
          <a:prstGeom prst="chevron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7105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78162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86722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Avenir Next Bold"/>
                <a:ea typeface="Hiragino Sans W8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821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Establishment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5644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Redesign the questions with a Review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38595" y="6108192"/>
            <a:ext cx="6314503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38595" y="6108192"/>
            <a:ext cx="6314503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Avenir Next Bold"/>
                <a:ea typeface="Hiragino Sans W6"/>
              </a:rPr>
              <a:t>A PhD holds an axis — a Review is one form of it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41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84367" y="21031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9527" y="2331720"/>
            <a:ext cx="9692640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>
                <a:solidFill>
                  <a:srgbClr val="1F2937"/>
                </a:solidFill>
                <a:latin typeface="Avenir Next Bold"/>
                <a:ea typeface="Hiragino Sans W8"/>
              </a:rPr>
              <a:t>A thesis is not a page count.
It is a coherent belief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84367" y="41605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81047" y="443484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Paper 1 → Paper 2 → Paper 3, connected into a Research Arc — details in the Quarter Plan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42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Avenir Next Bold"/>
                <a:ea typeface="Hiragino Sans W8"/>
              </a:rPr>
              <a:t>Don't choose by format. Choose from your question.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Avenir Book"/>
                <a:ea typeface="Hiragino Sans W4"/>
              </a:rPr>
              <a:t>The map-like order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74621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3181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Avenir Next Bold"/>
                <a:ea typeface="Hiragino Sans W8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3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Hold the map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0370" y="3520439"/>
            <a:ext cx="329184" cy="438912"/>
          </a:xfrm>
          <a:prstGeom prst="chevron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6928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76391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84951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Avenir Next Bold"/>
                <a:ea typeface="Hiragino Sans W8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644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Format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3874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Pick the format that fits the question</a:t>
            </a:r>
          </a:p>
        </p:txBody>
      </p:sp>
      <p:sp>
        <p:nvSpPr>
          <p:cNvPr id="17" name="Chevron 16"/>
          <p:cNvSpPr/>
          <p:nvPr/>
        </p:nvSpPr>
        <p:spPr>
          <a:xfrm>
            <a:off x="7832140" y="3520439"/>
            <a:ext cx="329184" cy="438912"/>
          </a:xfrm>
          <a:prstGeom prst="chevron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7105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78162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86722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Avenir Next Bold"/>
                <a:ea typeface="Hiragino Sans W8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821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Venue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5644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Decide the venue last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03062" y="6108192"/>
            <a:ext cx="7985569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062" y="6108192"/>
            <a:ext cx="7985569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Avenir Next Bold"/>
                <a:ea typeface="Hiragino Sans W6"/>
              </a:rPr>
              <a:t>Question → Format → Venue — reverse the order and you get lost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43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Avenir Next Bold"/>
                <a:ea typeface="Hiragino Sans W8"/>
              </a:rPr>
              <a:t>Ethics is the qualification for submitting belief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Avenir Book"/>
                <a:ea typeface="Hiragino Sans W4"/>
              </a:rPr>
              <a:t>What is Research Ethics? — Ethics as the Foundation of Belief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2490216"/>
            <a:ext cx="3472586" cy="2499360"/>
          </a:xfrm>
          <a:prstGeom prst="roundRect">
            <a:avLst>
              <a:gd name="adj" fmla="val 457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3544" y="2746247"/>
            <a:ext cx="530352" cy="530352"/>
          </a:xfrm>
          <a:prstGeom prst="roundRect">
            <a:avLst>
              <a:gd name="adj" fmla="val 25000"/>
            </a:avLst>
          </a:prstGeom>
          <a:solidFill>
            <a:srgbClr val="E4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monstr-shield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14" y="2852318"/>
            <a:ext cx="318211" cy="3182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3544" y="3441192"/>
            <a:ext cx="2960522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Data Integrity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907536"/>
            <a:ext cx="2960522" cy="85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Honest data and reproducibility.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9554" y="2490216"/>
            <a:ext cx="3472586" cy="2499360"/>
          </a:xfrm>
          <a:prstGeom prst="roundRect">
            <a:avLst>
              <a:gd name="adj" fmla="val 457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15586" y="2746247"/>
            <a:ext cx="530352" cy="530352"/>
          </a:xfrm>
          <a:prstGeom prst="roundRect">
            <a:avLst>
              <a:gd name="adj" fmla="val 25000"/>
            </a:avLst>
          </a:prstGeom>
          <a:solidFill>
            <a:srgbClr val="E7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monstr-copyright-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1656" y="2852318"/>
            <a:ext cx="318211" cy="31821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15586" y="3441192"/>
            <a:ext cx="2960522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Attribution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5586" y="3907536"/>
            <a:ext cx="2960522" cy="85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Credit and citation — show whose contribution it 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596" y="2490216"/>
            <a:ext cx="3472586" cy="2499360"/>
          </a:xfrm>
          <a:prstGeom prst="roundRect">
            <a:avLst>
              <a:gd name="adj" fmla="val 457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07628" y="2746247"/>
            <a:ext cx="530352" cy="530352"/>
          </a:xfrm>
          <a:prstGeom prst="roundRect">
            <a:avLst>
              <a:gd name="adj" fmla="val 25000"/>
            </a:avLst>
          </a:prstGeom>
          <a:solidFill>
            <a:srgbClr val="F8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monstr-glasses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3699" y="2852318"/>
            <a:ext cx="318211" cy="31821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07628" y="3441192"/>
            <a:ext cx="2960522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Transparency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7628" y="3907536"/>
            <a:ext cx="2960522" cy="85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Disclose in a verifiable form.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42408" y="6108192"/>
            <a:ext cx="9306877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42408" y="6108192"/>
            <a:ext cx="9306877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Avenir Next Bold"/>
                <a:ea typeface="Hiragino Sans W6"/>
              </a:rPr>
              <a:t>A paper is an ethically submitted, verifiable belief — Claim, Ethics, Verify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44 / 70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0" y="1005840"/>
            <a:ext cx="6400800" cy="4846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27000">
                <a:solidFill>
                  <a:srgbClr val="D9EAEF"/>
                </a:solidFill>
                <a:latin typeface="Avenir Next Bold"/>
                <a:ea typeface="Hiragino Sans W8"/>
              </a:rPr>
              <a:t>04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" y="2240280"/>
            <a:ext cx="75895" cy="1833117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4983" y="2258568"/>
            <a:ext cx="82296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spc="280">
                <a:solidFill>
                  <a:srgbClr val="5D5D5D"/>
                </a:solidFill>
                <a:latin typeface="Avenir Next Bold"/>
                <a:ea typeface="Hiragino Sans W6"/>
              </a:rPr>
              <a:t>SECTION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3" y="2624328"/>
            <a:ext cx="9875520" cy="960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>
                <a:solidFill>
                  <a:srgbClr val="1F2937"/>
                </a:solidFill>
                <a:latin typeface="Avenir Next Bold"/>
                <a:ea typeface="Hiragino Sans W8"/>
              </a:rPr>
              <a:t>The 5-Layer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3" y="3497326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>
                <a:solidFill>
                  <a:srgbClr val="7D7E7F"/>
                </a:solidFill>
                <a:latin typeface="Avenir Book"/>
                <a:ea typeface="Hiragino Sans W4"/>
              </a:rPr>
              <a:t>Strategic organization of lab activities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45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Avenir Next Bold"/>
                <a:ea typeface="Hiragino Sans W8"/>
              </a:rPr>
              <a:t>Lab activities are designed in five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Avenir Book"/>
                <a:ea typeface="Hiragino Sans W4"/>
              </a:rPr>
              <a:t>The 5 Layers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517904"/>
            <a:ext cx="10856671" cy="771753"/>
          </a:xfrm>
          <a:prstGeom prst="roundRect">
            <a:avLst>
              <a:gd name="adj" fmla="val 1481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1832" y="1666036"/>
            <a:ext cx="475488" cy="47548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666036"/>
            <a:ext cx="6583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72">
                <a:solidFill>
                  <a:srgbClr val="FFFFFF"/>
                </a:solidFill>
                <a:latin typeface="Avenir Next Bold"/>
                <a:ea typeface="Hiragino Sans W8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5064" y="1640605"/>
            <a:ext cx="9576511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Lab Forum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55064" y="2006365"/>
            <a:ext cx="9576511" cy="197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>
                <a:solidFill>
                  <a:srgbClr val="5D5D5D"/>
                </a:solidFill>
                <a:latin typeface="Avenir Book"/>
                <a:ea typeface="Hiragino Sans W4"/>
              </a:rPr>
              <a:t>Value refinement space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" y="2435961"/>
            <a:ext cx="10856671" cy="771753"/>
          </a:xfrm>
          <a:prstGeom prst="roundRect">
            <a:avLst>
              <a:gd name="adj" fmla="val 1481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1832" y="2584094"/>
            <a:ext cx="475488" cy="47548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584094"/>
            <a:ext cx="6583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72">
                <a:solidFill>
                  <a:srgbClr val="FFFFFF"/>
                </a:solidFill>
                <a:latin typeface="Avenir Next Bold"/>
                <a:ea typeface="Hiragino Sans W8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55064" y="2558662"/>
            <a:ext cx="9576511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Team Meeting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" y="2924422"/>
            <a:ext cx="9576511" cy="197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>
                <a:solidFill>
                  <a:srgbClr val="5D5D5D"/>
                </a:solidFill>
                <a:latin typeface="Avenir Book"/>
                <a:ea typeface="Hiragino Sans W4"/>
              </a:rPr>
              <a:t>Tactical decision space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" y="3354019"/>
            <a:ext cx="10856671" cy="771753"/>
          </a:xfrm>
          <a:prstGeom prst="roundRect">
            <a:avLst>
              <a:gd name="adj" fmla="val 1481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41832" y="3502152"/>
            <a:ext cx="475488" cy="47548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502152"/>
            <a:ext cx="6583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72">
                <a:solidFill>
                  <a:srgbClr val="FFFFFF"/>
                </a:solidFill>
                <a:latin typeface="Avenir Next Bold"/>
                <a:ea typeface="Hiragino Sans W8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55064" y="3476720"/>
            <a:ext cx="9576511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Student Interaction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5064" y="3842480"/>
            <a:ext cx="9576511" cy="197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>
                <a:solidFill>
                  <a:srgbClr val="5D5D5D"/>
                </a:solidFill>
                <a:latin typeface="Avenir Book"/>
                <a:ea typeface="Hiragino Sans W4"/>
              </a:rPr>
              <a:t>Autonomy training space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" y="4272076"/>
            <a:ext cx="10856671" cy="771753"/>
          </a:xfrm>
          <a:prstGeom prst="roundRect">
            <a:avLst>
              <a:gd name="adj" fmla="val 1481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1832" y="4420209"/>
            <a:ext cx="475488" cy="47548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4420209"/>
            <a:ext cx="6583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72">
                <a:solidFill>
                  <a:srgbClr val="FFFFFF"/>
                </a:solidFill>
                <a:latin typeface="Avenir Next Bold"/>
                <a:ea typeface="Hiragino Sans W8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55064" y="4394777"/>
            <a:ext cx="9576511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Individual Meeting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55064" y="4760537"/>
            <a:ext cx="9576511" cy="197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>
                <a:solidFill>
                  <a:srgbClr val="5D5D5D"/>
                </a:solidFill>
                <a:latin typeface="Avenir Book"/>
                <a:ea typeface="Hiragino Sans W4"/>
              </a:rPr>
              <a:t>Identity alignment space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" y="5190134"/>
            <a:ext cx="10856671" cy="771753"/>
          </a:xfrm>
          <a:prstGeom prst="roundRect">
            <a:avLst>
              <a:gd name="adj" fmla="val 1481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1832" y="5338267"/>
            <a:ext cx="475488" cy="47548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" y="5338267"/>
            <a:ext cx="6583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72">
                <a:solidFill>
                  <a:srgbClr val="FFFFFF"/>
                </a:solidFill>
                <a:latin typeface="Avenir Next Bold"/>
                <a:ea typeface="Hiragino Sans W8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55064" y="5312835"/>
            <a:ext cx="9576511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Individual Work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55064" y="5678595"/>
            <a:ext cx="9576511" cy="197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>
                <a:solidFill>
                  <a:srgbClr val="5D5D5D"/>
                </a:solidFill>
                <a:latin typeface="Avenir Book"/>
                <a:ea typeface="Hiragino Sans W4"/>
              </a:rPr>
              <a:t>The only place research moves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96056" y="6108192"/>
            <a:ext cx="5799582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96056" y="6108192"/>
            <a:ext cx="5799582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Avenir Next Bold"/>
                <a:ea typeface="Hiragino Sans W6"/>
              </a:rPr>
              <a:t>Each layer has its own role. Don't mix them.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46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Avenir Next Bold"/>
                <a:ea typeface="Hiragino Sans W8"/>
              </a:rPr>
              <a:t>Four meetings, four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Avenir Book"/>
                <a:ea typeface="Hiragino Sans W4"/>
              </a:rPr>
              <a:t>Layers 1 –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517904"/>
            <a:ext cx="10856671" cy="1106424"/>
          </a:xfrm>
          <a:prstGeom prst="roundRect">
            <a:avLst>
              <a:gd name="adj" fmla="val 1033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3544" y="1805940"/>
            <a:ext cx="530352" cy="530352"/>
          </a:xfrm>
          <a:prstGeom prst="roundRect">
            <a:avLst>
              <a:gd name="adj" fmla="val 25000"/>
            </a:avLst>
          </a:prstGeom>
          <a:solidFill>
            <a:srgbClr val="E4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monstr-idea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14" y="1912010"/>
            <a:ext cx="318211" cy="3182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1666494"/>
            <a:ext cx="9530791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1. Lab Forum — where we polish the 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32254"/>
            <a:ext cx="9530791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Refine value and positioning. Constructive doubt and philosophical deep dives from diverse perspectives.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" y="2770632"/>
            <a:ext cx="10856671" cy="1106424"/>
          </a:xfrm>
          <a:prstGeom prst="roundRect">
            <a:avLst>
              <a:gd name="adj" fmla="val 1033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23544" y="3058668"/>
            <a:ext cx="530352" cy="530352"/>
          </a:xfrm>
          <a:prstGeom prst="roundRect">
            <a:avLst>
              <a:gd name="adj" fmla="val 25000"/>
            </a:avLst>
          </a:prstGeom>
          <a:solidFill>
            <a:srgbClr val="E7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monstr-target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14" y="3164738"/>
            <a:ext cx="318211" cy="31821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91640" y="3039237"/>
            <a:ext cx="9530791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2. Team Meeting — decisions that move research forward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404997"/>
            <a:ext cx="9530791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Paper Card → decision → next 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" y="4023360"/>
            <a:ext cx="10856671" cy="1106424"/>
          </a:xfrm>
          <a:prstGeom prst="roundRect">
            <a:avLst>
              <a:gd name="adj" fmla="val 1033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3544" y="4311396"/>
            <a:ext cx="530352" cy="530352"/>
          </a:xfrm>
          <a:prstGeom prst="roundRect">
            <a:avLst>
              <a:gd name="adj" fmla="val 25000"/>
            </a:avLst>
          </a:prstGeom>
          <a:solidFill>
            <a:srgbClr val="F8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monstr-networking-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614" y="4417466"/>
            <a:ext cx="318211" cy="31821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91640" y="4291965"/>
            <a:ext cx="9530791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3. Student-only interaction — autonomy training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657725"/>
            <a:ext cx="9530791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Technical consultation, verbalization training, pre-review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" y="5276088"/>
            <a:ext cx="10856671" cy="1106424"/>
          </a:xfrm>
          <a:prstGeom prst="roundRect">
            <a:avLst>
              <a:gd name="adj" fmla="val 1033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3544" y="5564124"/>
            <a:ext cx="530352" cy="530352"/>
          </a:xfrm>
          <a:prstGeom prst="roundRect">
            <a:avLst>
              <a:gd name="adj" fmla="val 25000"/>
            </a:avLst>
          </a:prstGeom>
          <a:solidFill>
            <a:srgbClr val="E4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monstr-user-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614" y="5670194"/>
            <a:ext cx="318211" cy="31821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691640" y="5544693"/>
            <a:ext cx="9530791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4. Individual Meeting — confirming your research axis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5910453"/>
            <a:ext cx="9530791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Growth direction and career design. </a:t>
            </a:r>
            <a:r>
              <a:rPr sz="1400">
                <a:solidFill>
                  <a:srgbClr val="9C8545"/>
                </a:solidFill>
                <a:latin typeface="Avenir Next Bold"/>
                <a:ea typeface="Hiragino Sans W6"/>
              </a:rPr>
              <a:t>Not</a:t>
            </a: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 for technical details or minor manuscript edits.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47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Avenir Next Bold"/>
                <a:ea typeface="Hiragino Sans W8"/>
              </a:rPr>
              <a:t>The place for decisions, the place for sparring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Avenir Book"/>
                <a:ea typeface="Hiragino Sans W4"/>
              </a:rPr>
              <a:t>Idea → Framing → Figures → Draft → Submission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517904"/>
            <a:ext cx="5245455" cy="4443983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55648"/>
            <a:ext cx="4660239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Team Meeting = Decision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194560"/>
            <a:ext cx="502920" cy="32004"/>
          </a:xfrm>
          <a:prstGeom prst="roundRect">
            <a:avLst>
              <a:gd name="adj" fmla="val 48571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54046"/>
            <a:ext cx="82296" cy="8229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97864" y="251460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Decides GO / NO-GO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3545586"/>
            <a:ext cx="82296" cy="8229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340614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Move to the next phase, or go 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727" y="1517904"/>
            <a:ext cx="5245455" cy="4443983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71335" y="1755648"/>
            <a:ext cx="4660239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Lab Forum = Sparring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71335" y="2194560"/>
            <a:ext cx="502920" cy="32004"/>
          </a:xfrm>
          <a:prstGeom prst="roundRect">
            <a:avLst>
              <a:gd name="adj" fmla="val 48571"/>
            </a:avLst>
          </a:prstGeom>
          <a:solidFill>
            <a:srgbClr val="35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71335" y="2654046"/>
            <a:ext cx="82296" cy="82296"/>
          </a:xfrm>
          <a:prstGeom prst="ellipse">
            <a:avLst/>
          </a:prstGeom>
          <a:solidFill>
            <a:srgbClr val="35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9079" y="251460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Break and polish questions, positions, expressions</a:t>
            </a:r>
          </a:p>
        </p:txBody>
      </p:sp>
      <p:sp>
        <p:nvSpPr>
          <p:cNvPr id="18" name="Oval 17"/>
          <p:cNvSpPr/>
          <p:nvPr/>
        </p:nvSpPr>
        <p:spPr>
          <a:xfrm>
            <a:off x="6571335" y="3888485"/>
            <a:ext cx="82296" cy="82296"/>
          </a:xfrm>
          <a:prstGeom prst="ellipse">
            <a:avLst/>
          </a:prstGeom>
          <a:solidFill>
            <a:srgbClr val="35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09079" y="3749039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Not a place for conclusions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28880" y="6108192"/>
            <a:ext cx="6333934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8880" y="6108192"/>
            <a:ext cx="6333934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Avenir Next Bold"/>
                <a:ea typeface="Hiragino Sans W6"/>
              </a:rPr>
              <a:t>Decisions move the phases; sparring polishes them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48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84367" y="21031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9527" y="2331720"/>
            <a:ext cx="9692640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>
                <a:solidFill>
                  <a:srgbClr val="1F2937"/>
                </a:solidFill>
                <a:latin typeface="Avenir Next Bold"/>
                <a:ea typeface="Hiragino Sans W8"/>
              </a:rPr>
              <a:t>Research doesn't move in meetings.
It moves at your desk.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84367" y="41605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81047" y="443484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5. Individual Work — required habits: daily Research Log ／ weekly Paper Card ／ monthly Core Question. Meeting is for alignment. Work is for progress.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49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Avenir Next Bold"/>
                <a:ea typeface="Hiragino Sans W8"/>
              </a:rPr>
              <a:t>Core Principle — four places, four purposes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Avenir Book"/>
                <a:ea typeface="Hiragino Sans W4"/>
              </a:rPr>
              <a:t>Always know what each place is for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517904"/>
            <a:ext cx="5327751" cy="2121408"/>
          </a:xfrm>
          <a:prstGeom prst="roundRect">
            <a:avLst>
              <a:gd name="adj" fmla="val 538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23544" y="1755648"/>
            <a:ext cx="329184" cy="329184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1755648"/>
            <a:ext cx="51206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>
                <a:solidFill>
                  <a:srgbClr val="FFFFFF"/>
                </a:solidFill>
                <a:latin typeface="Avenir Next Bold"/>
                <a:ea typeface="Hiragino Sans W8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1737360"/>
            <a:ext cx="4367631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Team Meeting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304288"/>
            <a:ext cx="4779111" cy="1124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Tactics — Tactical Decision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6431" y="1517904"/>
            <a:ext cx="5327751" cy="2121408"/>
          </a:xfrm>
          <a:prstGeom prst="roundRect">
            <a:avLst>
              <a:gd name="adj" fmla="val 538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52463" y="1755648"/>
            <a:ext cx="329184" cy="329184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1023" y="1755648"/>
            <a:ext cx="51206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>
                <a:solidFill>
                  <a:srgbClr val="FFFFFF"/>
                </a:solidFill>
                <a:latin typeface="Avenir Next Bold"/>
                <a:ea typeface="Hiragino Sans W8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7951" y="1737360"/>
            <a:ext cx="4367631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Lab Forum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0751" y="2304288"/>
            <a:ext cx="4779111" cy="1124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Value — Value Refinement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" y="3840480"/>
            <a:ext cx="5327751" cy="2121408"/>
          </a:xfrm>
          <a:prstGeom prst="roundRect">
            <a:avLst>
              <a:gd name="adj" fmla="val 538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4078224"/>
            <a:ext cx="329184" cy="329184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" y="4078224"/>
            <a:ext cx="51206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>
                <a:solidFill>
                  <a:srgbClr val="FFFFFF"/>
                </a:solidFill>
                <a:latin typeface="Avenir Next Bold"/>
                <a:ea typeface="Hiragino Sans W8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2" y="4059936"/>
            <a:ext cx="4367631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Individual Meeting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4626864"/>
            <a:ext cx="4779111" cy="1124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Axis — Identity Alignment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6431" y="3840480"/>
            <a:ext cx="5327751" cy="2121408"/>
          </a:xfrm>
          <a:prstGeom prst="roundRect">
            <a:avLst>
              <a:gd name="adj" fmla="val 538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52463" y="4078224"/>
            <a:ext cx="329184" cy="329184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1023" y="4078224"/>
            <a:ext cx="51206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>
                <a:solidFill>
                  <a:srgbClr val="FFFFFF"/>
                </a:solidFill>
                <a:latin typeface="Avenir Next Bold"/>
                <a:ea typeface="Hiragino Sans W8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7951" y="4059936"/>
            <a:ext cx="4367631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Individual 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0751" y="4626864"/>
            <a:ext cx="4779111" cy="1124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Progress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11113" y="6108192"/>
            <a:ext cx="7169467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11113" y="6108192"/>
            <a:ext cx="7169467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Avenir Next Bold"/>
                <a:ea typeface="Hiragino Sans W6"/>
              </a:rPr>
              <a:t>Never mix the purposes — that is how the five layers run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50 / 70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0" y="1005840"/>
            <a:ext cx="6400800" cy="4846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27000">
                <a:solidFill>
                  <a:srgbClr val="D9EAEF"/>
                </a:solidFill>
                <a:latin typeface="Avenir Next Bold"/>
                <a:ea typeface="Hiragino Sans W8"/>
              </a:rPr>
              <a:t>05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" y="2240280"/>
            <a:ext cx="75895" cy="1833117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4983" y="2258568"/>
            <a:ext cx="82296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spc="280">
                <a:solidFill>
                  <a:srgbClr val="5D5D5D"/>
                </a:solidFill>
                <a:latin typeface="Avenir Next Bold"/>
                <a:ea typeface="Hiragino Sans W6"/>
              </a:rPr>
              <a:t>SECTION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3" y="2624328"/>
            <a:ext cx="9875520" cy="960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>
                <a:solidFill>
                  <a:srgbClr val="1F2937"/>
                </a:solidFill>
                <a:latin typeface="Avenir Next Bold"/>
                <a:ea typeface="Hiragino Sans W8"/>
              </a:rPr>
              <a:t>Grade-Specific Goals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3" y="3497326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>
                <a:solidFill>
                  <a:srgbClr val="7D7E7F"/>
                </a:solidFill>
                <a:latin typeface="Avenir Book"/>
                <a:ea typeface="Hiragino Sans W4"/>
              </a:rPr>
              <a:t>Academic responsibility &amp; grade-specific goals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51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84367" y="21031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9527" y="2331720"/>
            <a:ext cx="9692640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>
                <a:solidFill>
                  <a:srgbClr val="1F2937"/>
                </a:solidFill>
                <a:latin typeface="Avenir Next Bold"/>
                <a:ea typeface="Hiragino Sans W8"/>
              </a:rPr>
              <a:t>More responsibility brings more freedom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84367" y="41605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81047" y="443484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Dual-axis model — horizontal: research responsibility ／ vertical: community responsibility. B4 → Master → PhD moves toward the upper right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52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Avenir Next Bold"/>
                <a:ea typeface="Hiragino Sans W8"/>
              </a:rPr>
              <a:t>Responsibilities by grade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Avenir Book"/>
                <a:ea typeface="Hiragino Sans W4"/>
              </a:rPr>
              <a:t>B4 / Master / PhD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2223516"/>
            <a:ext cx="3472586" cy="3032760"/>
          </a:xfrm>
          <a:prstGeom prst="roundRect">
            <a:avLst>
              <a:gd name="adj" fmla="val 3768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3544" y="2479548"/>
            <a:ext cx="530352" cy="530352"/>
          </a:xfrm>
          <a:prstGeom prst="roundRect">
            <a:avLst>
              <a:gd name="adj" fmla="val 25000"/>
            </a:avLst>
          </a:prstGeom>
          <a:solidFill>
            <a:srgbClr val="E4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monstr-rocket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14" y="2585618"/>
            <a:ext cx="318211" cy="3182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3544" y="3174492"/>
            <a:ext cx="2960522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>
                <a:solidFill>
                  <a:srgbClr val="1F2937"/>
                </a:solidFill>
                <a:latin typeface="Avenir Next Bold"/>
                <a:ea typeface="Hiragino Sans W6"/>
              </a:rPr>
              <a:t>B4: Experience &amp; Honesty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40836"/>
            <a:ext cx="2960522" cy="1386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Run one full research cycle. Share results and struggles honestly. Completion over perfection.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9554" y="2223516"/>
            <a:ext cx="3472586" cy="3032760"/>
          </a:xfrm>
          <a:prstGeom prst="roundRect">
            <a:avLst>
              <a:gd name="adj" fmla="val 3768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15586" y="2479548"/>
            <a:ext cx="530352" cy="530352"/>
          </a:xfrm>
          <a:prstGeom prst="roundRect">
            <a:avLst>
              <a:gd name="adj" fmla="val 25000"/>
            </a:avLst>
          </a:prstGeom>
          <a:solidFill>
            <a:srgbClr val="E7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monstr-flag-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1656" y="2585618"/>
            <a:ext cx="318211" cy="31821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15586" y="3174492"/>
            <a:ext cx="2960522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1F2937"/>
                </a:solidFill>
                <a:latin typeface="Avenir Next Bold"/>
                <a:ea typeface="Hiragino Sans W6"/>
              </a:rPr>
              <a:t>Master: Completion &amp; Mentorship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5586" y="3640836"/>
            <a:ext cx="2960522" cy="1386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Submit one Original article. Support and guide the B4s. The responsibility to finish the race.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596" y="2223516"/>
            <a:ext cx="3472586" cy="3032760"/>
          </a:xfrm>
          <a:prstGeom prst="roundRect">
            <a:avLst>
              <a:gd name="adj" fmla="val 3768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07628" y="2479548"/>
            <a:ext cx="530352" cy="530352"/>
          </a:xfrm>
          <a:prstGeom prst="roundRect">
            <a:avLst>
              <a:gd name="adj" fmla="val 25000"/>
            </a:avLst>
          </a:prstGeom>
          <a:solidFill>
            <a:srgbClr val="F8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monstr-award-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3699" y="2585618"/>
            <a:ext cx="318211" cy="31821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07628" y="3174492"/>
            <a:ext cx="2960522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>
                <a:solidFill>
                  <a:srgbClr val="1F2937"/>
                </a:solidFill>
                <a:latin typeface="Avenir Next Bold"/>
                <a:ea typeface="Hiragino Sans W6"/>
              </a:rPr>
              <a:t>PhD: Definition &amp; Culture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7628" y="3640836"/>
            <a:ext cx="2960522" cy="1386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Define a unique research axis. Protect and evolve the lab culture. A Review is one way to establish the axis.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98901" y="6108192"/>
            <a:ext cx="5993892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98901" y="6108192"/>
            <a:ext cx="5993892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Avenir Next Bold"/>
                <a:ea typeface="Hiragino Sans W6"/>
              </a:rPr>
              <a:t>Grow along both axes — research and community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53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Avenir Next Bold"/>
                <a:ea typeface="Hiragino Sans W8"/>
              </a:rPr>
              <a:t>Expectations are explicit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Avenir Book"/>
                <a:ea typeface="Hiragino Sans W4"/>
              </a:rPr>
              <a:t>Clear Expectations — This is NOT optional. This is the baseline.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517904"/>
            <a:ext cx="3472586" cy="4443983"/>
          </a:xfrm>
          <a:prstGeom prst="roundRect">
            <a:avLst>
              <a:gd name="adj" fmla="val 3291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228941"/>
            <a:ext cx="3106826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>
                <a:solidFill>
                  <a:srgbClr val="5D5D5D"/>
                </a:solidFill>
                <a:latin typeface="Avenir Next Bold"/>
                <a:ea typeface="Hiragino Sans W6"/>
              </a:rPr>
              <a:t>B4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3028858"/>
            <a:ext cx="3106826" cy="868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3600">
                <a:solidFill>
                  <a:srgbClr val="9C8545"/>
                </a:solidFill>
                <a:latin typeface="Avenir Next Bold"/>
                <a:ea typeface="Hiragino Sans W8"/>
              </a:rPr>
              <a:t>1 full cycle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29485" y="4273174"/>
            <a:ext cx="548640" cy="27432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4628692"/>
            <a:ext cx="2960522" cy="11554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Experience the whole research cycle once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9554" y="1517904"/>
            <a:ext cx="3472586" cy="4443983"/>
          </a:xfrm>
          <a:prstGeom prst="roundRect">
            <a:avLst>
              <a:gd name="adj" fmla="val 3291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2434" y="2228941"/>
            <a:ext cx="3106826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>
                <a:solidFill>
                  <a:srgbClr val="5D5D5D"/>
                </a:solidFill>
                <a:latin typeface="Avenir Next Bold"/>
                <a:ea typeface="Hiragino Sans W6"/>
              </a:rPr>
              <a:t>Master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2434" y="3028858"/>
            <a:ext cx="3106826" cy="868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4000">
                <a:solidFill>
                  <a:srgbClr val="9C8545"/>
                </a:solidFill>
                <a:latin typeface="Avenir Next Bold"/>
                <a:ea typeface="Hiragino Sans W8"/>
              </a:rPr>
              <a:t>1 Original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21527" y="4273174"/>
            <a:ext cx="548640" cy="27432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5586" y="4628692"/>
            <a:ext cx="2960522" cy="11554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Submit one first-author paper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596" y="1517904"/>
            <a:ext cx="3472586" cy="4443983"/>
          </a:xfrm>
          <a:prstGeom prst="roundRect">
            <a:avLst>
              <a:gd name="adj" fmla="val 3291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4476" y="2228941"/>
            <a:ext cx="3106826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>
                <a:solidFill>
                  <a:srgbClr val="5D5D5D"/>
                </a:solidFill>
                <a:latin typeface="Avenir Next Bold"/>
                <a:ea typeface="Hiragino Sans W6"/>
              </a:rPr>
              <a:t>PhD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4476" y="3028858"/>
            <a:ext cx="3106826" cy="868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3400">
                <a:solidFill>
                  <a:srgbClr val="9C8545"/>
                </a:solidFill>
                <a:latin typeface="Avenir Next Bold"/>
                <a:ea typeface="Hiragino Sans W8"/>
              </a:rPr>
              <a:t>Axis + Culture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13570" y="4273174"/>
            <a:ext cx="548640" cy="27432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7628" y="4628692"/>
            <a:ext cx="2960522" cy="11554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Define the axis, carry the culture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04455" y="6108192"/>
            <a:ext cx="3982783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04455" y="6108192"/>
            <a:ext cx="3982783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Avenir Next Bold"/>
                <a:ea typeface="Hiragino Sans W6"/>
              </a:rPr>
              <a:t>Baseline, not stretch goals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54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>
                <a:solidFill>
                  <a:srgbClr val="1F2937"/>
                </a:solidFill>
                <a:latin typeface="Avenir Next Bold"/>
                <a:ea typeface="Hiragino Sans W8"/>
              </a:rPr>
              <a:t>Quarter Plan: not a progress report — structural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Avenir Book"/>
                <a:ea typeface="Hiragino Sans W4"/>
              </a:rPr>
              <a:t>Structural Reflection — design in 90-day units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517904"/>
            <a:ext cx="5245455" cy="4443983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55648"/>
            <a:ext cx="4660239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What it 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194560"/>
            <a:ext cx="502920" cy="32004"/>
          </a:xfrm>
          <a:prstGeom prst="roundRect">
            <a:avLst>
              <a:gd name="adj" fmla="val 48571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54046"/>
            <a:ext cx="82296" cy="8229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97864" y="251460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Strategy designed in 90-day quarters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3851909"/>
            <a:ext cx="82296" cy="8229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3712463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The one-year Research Arc split into Q1–Q4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5049773"/>
            <a:ext cx="82296" cy="8229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97864" y="4910327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A visualization of your thinking structure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727" y="1517904"/>
            <a:ext cx="5245455" cy="4443983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71335" y="1755648"/>
            <a:ext cx="4660239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Why 90 days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71335" y="2194560"/>
            <a:ext cx="502920" cy="32004"/>
          </a:xfrm>
          <a:prstGeom prst="roundRect">
            <a:avLst>
              <a:gd name="adj" fmla="val 48571"/>
            </a:avLst>
          </a:prstGeom>
          <a:solidFill>
            <a:srgbClr val="35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71335" y="2654046"/>
            <a:ext cx="82296" cy="82296"/>
          </a:xfrm>
          <a:prstGeom prst="ellipse">
            <a:avLst/>
          </a:prstGeom>
          <a:solidFill>
            <a:srgbClr val="35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09079" y="251460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Research is a marathon; design in sprints</a:t>
            </a:r>
          </a:p>
        </p:txBody>
      </p:sp>
      <p:sp>
        <p:nvSpPr>
          <p:cNvPr id="20" name="Oval 19"/>
          <p:cNvSpPr/>
          <p:nvPr/>
        </p:nvSpPr>
        <p:spPr>
          <a:xfrm>
            <a:off x="6571335" y="3851909"/>
            <a:ext cx="82296" cy="82296"/>
          </a:xfrm>
          <a:prstGeom prst="ellipse">
            <a:avLst/>
          </a:prstGeom>
          <a:solidFill>
            <a:srgbClr val="35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9079" y="3712463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For B4, the goal is one full cycle, not perfection</a:t>
            </a:r>
          </a:p>
        </p:txBody>
      </p:sp>
      <p:sp>
        <p:nvSpPr>
          <p:cNvPr id="22" name="Oval 21"/>
          <p:cNvSpPr/>
          <p:nvPr/>
        </p:nvSpPr>
        <p:spPr>
          <a:xfrm>
            <a:off x="6571335" y="5049773"/>
            <a:ext cx="82296" cy="82296"/>
          </a:xfrm>
          <a:prstGeom prst="ellipse">
            <a:avLst/>
          </a:prstGeom>
          <a:solidFill>
            <a:srgbClr val="35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9079" y="4910327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Short spans expose structural drift early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83631" y="6108192"/>
            <a:ext cx="8024431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83631" y="6108192"/>
            <a:ext cx="8024431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Avenir Next Bold"/>
                <a:ea typeface="Hiragino Sans W6"/>
              </a:rPr>
              <a:t>Strategy is quarterly — run the marathon on sprint-sized designs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55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84367" y="21031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9527" y="2331720"/>
            <a:ext cx="9692640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>
                <a:solidFill>
                  <a:srgbClr val="1F2937"/>
                </a:solidFill>
                <a:latin typeface="Avenir Next Bold"/>
                <a:ea typeface="Hiragino Sans W8"/>
              </a:rPr>
              <a:t>Locate yourself before moving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84367" y="41605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81047" y="443484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Identity Snapshot — YOU ARE HERE. Forward progress cannot be designed from a vague location.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56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Avenir Next Bold"/>
                <a:ea typeface="Hiragino Sans W8"/>
              </a:rPr>
              <a:t>The B4 year: back-calculate from the deadlines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Avenir Book"/>
                <a:ea typeface="Hiragino Sans W4"/>
              </a:rPr>
              <a:t>Not a year of research only — external events squeeze research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517904"/>
            <a:ext cx="1417320" cy="932687"/>
          </a:xfrm>
          <a:prstGeom prst="roundRect">
            <a:avLst>
              <a:gd name="adj" fmla="val 9803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517904"/>
            <a:ext cx="1417320" cy="932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Avenir Next Bold"/>
                <a:ea typeface="Hiragino Sans W6"/>
              </a:rPr>
              <a:t>Q1 Apr–Jun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59152" y="1517904"/>
            <a:ext cx="9165031" cy="932687"/>
          </a:xfrm>
          <a:prstGeom prst="roundRect">
            <a:avLst>
              <a:gd name="adj" fmla="val 12254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1517904"/>
            <a:ext cx="8579815" cy="932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Fix the theme — in parallel with coursework</a:t>
            </a:r>
          </a:p>
        </p:txBody>
      </p:sp>
      <p:sp>
        <p:nvSpPr>
          <p:cNvPr id="10" name="Down Arrow 9"/>
          <p:cNvSpPr/>
          <p:nvPr/>
        </p:nvSpPr>
        <p:spPr>
          <a:xfrm>
            <a:off x="1220724" y="2468879"/>
            <a:ext cx="310896" cy="201168"/>
          </a:xfrm>
          <a:prstGeom prst="downArrow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" y="2688336"/>
            <a:ext cx="1417320" cy="932687"/>
          </a:xfrm>
          <a:prstGeom prst="roundRect">
            <a:avLst>
              <a:gd name="adj" fmla="val 9803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2688336"/>
            <a:ext cx="1417320" cy="932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Avenir Next Bold"/>
                <a:ea typeface="Hiragino Sans W6"/>
              </a:rPr>
              <a:t>Q2 Jul–Sep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59152" y="2688336"/>
            <a:ext cx="9165031" cy="932687"/>
          </a:xfrm>
          <a:prstGeom prst="roundRect">
            <a:avLst>
              <a:gd name="adj" fmla="val 12254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2688336"/>
            <a:ext cx="8579815" cy="932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Framing — entrance exams and job hunting squeeze research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220724" y="3639312"/>
            <a:ext cx="310896" cy="201168"/>
          </a:xfrm>
          <a:prstGeom prst="downArrow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7512" y="3858768"/>
            <a:ext cx="1417320" cy="932687"/>
          </a:xfrm>
          <a:prstGeom prst="roundRect">
            <a:avLst>
              <a:gd name="adj" fmla="val 9803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3858768"/>
            <a:ext cx="1417320" cy="932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Avenir Next Bold"/>
                <a:ea typeface="Hiragino Sans W6"/>
              </a:rPr>
              <a:t>Q3 Oct–Dec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59152" y="3858768"/>
            <a:ext cx="9165031" cy="932687"/>
          </a:xfrm>
          <a:prstGeom prst="roundRect">
            <a:avLst>
              <a:gd name="adj" fmla="val 12254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51760" y="3858768"/>
            <a:ext cx="8579815" cy="932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Figures — finalize the figures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220724" y="4809743"/>
            <a:ext cx="310896" cy="201168"/>
          </a:xfrm>
          <a:prstGeom prst="downArrow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7512" y="5029200"/>
            <a:ext cx="1417320" cy="932687"/>
          </a:xfrm>
          <a:prstGeom prst="roundRect">
            <a:avLst>
              <a:gd name="adj" fmla="val 9803"/>
            </a:avLst>
          </a:prstGeom>
          <a:solidFill>
            <a:srgbClr val="C6A44A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5029200"/>
            <a:ext cx="1417320" cy="9326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Avenir Next Bold"/>
                <a:ea typeface="Hiragino Sans W6"/>
              </a:rPr>
              <a:t>Q4 Jan–Feb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59152" y="5029200"/>
            <a:ext cx="9165031" cy="932687"/>
          </a:xfrm>
          <a:prstGeom prst="roundRect">
            <a:avLst>
              <a:gd name="adj" fmla="val 12254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51760" y="5184648"/>
            <a:ext cx="8579815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Thesis wrap-up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5550407"/>
            <a:ext cx="8579815" cy="3749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Submit the thesis — one full Research Arc completed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24854" y="6108192"/>
            <a:ext cx="6741985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24854" y="6108192"/>
            <a:ext cx="6741985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Avenir Next Bold"/>
                <a:ea typeface="Hiragino Sans W6"/>
              </a:rPr>
              <a:t>APR → FEB: design backwards from the external events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57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Avenir Next Bold"/>
                <a:ea typeface="Hiragino Sans W8"/>
              </a:rPr>
              <a:t>Typical B4 failure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Avenir Book"/>
                <a:ea typeface="Hiragino Sans W4"/>
              </a:rPr>
              <a:t>B4 Failure Patterns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517904"/>
            <a:ext cx="10856671" cy="1001267"/>
          </a:xfrm>
          <a:prstGeom prst="roundRect">
            <a:avLst>
              <a:gd name="adj" fmla="val 11415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1832" y="1780794"/>
            <a:ext cx="475488" cy="47548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780794"/>
            <a:ext cx="6583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72">
                <a:solidFill>
                  <a:srgbClr val="FFFFFF"/>
                </a:solidFill>
                <a:latin typeface="Avenir Next Bold"/>
                <a:ea typeface="Hiragino Sans W8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5064" y="1517904"/>
            <a:ext cx="9576511" cy="100126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Stalled by graduate entrance exams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" y="2665476"/>
            <a:ext cx="10856671" cy="1001267"/>
          </a:xfrm>
          <a:prstGeom prst="roundRect">
            <a:avLst>
              <a:gd name="adj" fmla="val 11415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1832" y="2928365"/>
            <a:ext cx="475488" cy="47548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928365"/>
            <a:ext cx="6583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72">
                <a:solidFill>
                  <a:srgbClr val="FFFFFF"/>
                </a:solidFill>
                <a:latin typeface="Avenir Next Bold"/>
                <a:ea typeface="Hiragino Sans W8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55064" y="2665476"/>
            <a:ext cx="9576511" cy="100126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Silence when stuck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" y="3813048"/>
            <a:ext cx="10856671" cy="1001267"/>
          </a:xfrm>
          <a:prstGeom prst="roundRect">
            <a:avLst>
              <a:gd name="adj" fmla="val 11415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1832" y="4075937"/>
            <a:ext cx="475488" cy="47548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4075937"/>
            <a:ext cx="6583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72">
                <a:solidFill>
                  <a:srgbClr val="FFFFFF"/>
                </a:solidFill>
                <a:latin typeface="Avenir Next Bold"/>
                <a:ea typeface="Hiragino Sans W8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55064" y="3813048"/>
            <a:ext cx="9576511" cy="100126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Waiting for "perfection" to share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" y="4960619"/>
            <a:ext cx="10856671" cy="1001267"/>
          </a:xfrm>
          <a:prstGeom prst="roundRect">
            <a:avLst>
              <a:gd name="adj" fmla="val 11415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41832" y="5223509"/>
            <a:ext cx="475488" cy="47548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5223509"/>
            <a:ext cx="6583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72">
                <a:solidFill>
                  <a:srgbClr val="FFFFFF"/>
                </a:solidFill>
                <a:latin typeface="Avenir Next Bold"/>
                <a:ea typeface="Hiragino Sans W8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55064" y="4960619"/>
            <a:ext cx="9576511" cy="100126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Total collapse from multi-tasking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35750" y="6108192"/>
            <a:ext cx="6120193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35750" y="6108192"/>
            <a:ext cx="6120193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Avenir Next Bold"/>
                <a:ea typeface="Hiragino Sans W6"/>
              </a:rPr>
              <a:t>The Quarter Plan exists to prevent exactly this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58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Avenir Next Bold"/>
                <a:ea typeface="Hiragino Sans W8"/>
              </a:rPr>
              <a:t>Evaluation is a by-product of structural thinking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Avenir Book"/>
                <a:ea typeface="Hiragino Sans W4"/>
              </a:rPr>
              <a:t>Evaluation Criteria — what is evaluated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517904"/>
            <a:ext cx="10856671" cy="1001267"/>
          </a:xfrm>
          <a:prstGeom prst="roundRect">
            <a:avLst>
              <a:gd name="adj" fmla="val 11415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1832" y="1780794"/>
            <a:ext cx="475488" cy="47548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780794"/>
            <a:ext cx="6583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72">
                <a:solidFill>
                  <a:srgbClr val="FFFFFF"/>
                </a:solidFill>
                <a:latin typeface="Avenir Next Bold"/>
                <a:ea typeface="Hiragino Sans W8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5064" y="1517904"/>
            <a:ext cx="9576511" cy="100126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Understanding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" y="2665476"/>
            <a:ext cx="10856671" cy="1001267"/>
          </a:xfrm>
          <a:prstGeom prst="roundRect">
            <a:avLst>
              <a:gd name="adj" fmla="val 11415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1832" y="2928365"/>
            <a:ext cx="475488" cy="47548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928365"/>
            <a:ext cx="6583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72">
                <a:solidFill>
                  <a:srgbClr val="FFFFFF"/>
                </a:solidFill>
                <a:latin typeface="Avenir Next Bold"/>
                <a:ea typeface="Hiragino Sans W8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55064" y="2665476"/>
            <a:ext cx="9576511" cy="100126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Logical presentation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" y="3813048"/>
            <a:ext cx="10856671" cy="1001267"/>
          </a:xfrm>
          <a:prstGeom prst="roundRect">
            <a:avLst>
              <a:gd name="adj" fmla="val 11415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1832" y="4075937"/>
            <a:ext cx="475488" cy="47548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4075937"/>
            <a:ext cx="6583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72">
                <a:solidFill>
                  <a:srgbClr val="FFFFFF"/>
                </a:solidFill>
                <a:latin typeface="Avenir Next Bold"/>
                <a:ea typeface="Hiragino Sans W8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55064" y="3813048"/>
            <a:ext cx="9576511" cy="100126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Q&amp;A performance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" y="4960619"/>
            <a:ext cx="10856671" cy="1001267"/>
          </a:xfrm>
          <a:prstGeom prst="roundRect">
            <a:avLst>
              <a:gd name="adj" fmla="val 11415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41832" y="5223509"/>
            <a:ext cx="475488" cy="47548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5223509"/>
            <a:ext cx="6583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72">
                <a:solidFill>
                  <a:srgbClr val="FFFFFF"/>
                </a:solidFill>
                <a:latin typeface="Avenir Next Bold"/>
                <a:ea typeface="Hiragino Sans W8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55064" y="4960619"/>
            <a:ext cx="9576511" cy="100126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Document structure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26383" y="6108192"/>
            <a:ext cx="5138928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6383" y="6108192"/>
            <a:ext cx="5138928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Avenir Next Bold"/>
                <a:ea typeface="Hiragino Sans W6"/>
              </a:rPr>
              <a:t>Complete the Arc → skills will follow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59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Avenir Next Bold"/>
                <a:ea typeface="Hiragino Sans W8"/>
              </a:rPr>
              <a:t>The Master's two years are an extended Arc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Avenir Book"/>
                <a:ea typeface="Hiragino Sans W4"/>
              </a:rPr>
              <a:t>The race is decided in M1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517904"/>
            <a:ext cx="5245455" cy="4443983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55648"/>
            <a:ext cx="4660239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M1: Exploration &amp;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194560"/>
            <a:ext cx="502920" cy="32004"/>
          </a:xfrm>
          <a:prstGeom prst="roundRect">
            <a:avLst>
              <a:gd name="adj" fmla="val 48571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54046"/>
            <a:ext cx="82296" cy="8229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97864" y="251460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Exploration and strategy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3545586"/>
            <a:ext cx="82296" cy="8229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340614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Focus on Framing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4437126"/>
            <a:ext cx="82296" cy="8229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97864" y="429768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9C8545"/>
                </a:solidFill>
                <a:latin typeface="Avenir Next Bold"/>
                <a:ea typeface="Hiragino Sans W6"/>
              </a:rPr>
              <a:t>Axis fixed</a:t>
            </a: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 by mid-M1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727" y="1517904"/>
            <a:ext cx="5245455" cy="4443983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71335" y="1755648"/>
            <a:ext cx="4660239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M2: Convergence &amp; Completion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71335" y="2194560"/>
            <a:ext cx="502920" cy="32004"/>
          </a:xfrm>
          <a:prstGeom prst="roundRect">
            <a:avLst>
              <a:gd name="adj" fmla="val 48571"/>
            </a:avLst>
          </a:prstGeom>
          <a:solidFill>
            <a:srgbClr val="35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71335" y="2654046"/>
            <a:ext cx="82296" cy="82296"/>
          </a:xfrm>
          <a:prstGeom prst="ellipse">
            <a:avLst/>
          </a:prstGeom>
          <a:solidFill>
            <a:srgbClr val="35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09079" y="251460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The acceleration zone</a:t>
            </a:r>
          </a:p>
        </p:txBody>
      </p:sp>
      <p:sp>
        <p:nvSpPr>
          <p:cNvPr id="20" name="Oval 19"/>
          <p:cNvSpPr/>
          <p:nvPr/>
        </p:nvSpPr>
        <p:spPr>
          <a:xfrm>
            <a:off x="6571335" y="3545586"/>
            <a:ext cx="82296" cy="82296"/>
          </a:xfrm>
          <a:prstGeom prst="ellipse">
            <a:avLst/>
          </a:prstGeom>
          <a:solidFill>
            <a:srgbClr val="35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9079" y="340614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Those who panic in M2 didn't design in M1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16668" y="6108192"/>
            <a:ext cx="5158359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16668" y="6108192"/>
            <a:ext cx="5158359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Avenir Next Bold"/>
                <a:ea typeface="Hiragino Sans W6"/>
              </a:rPr>
              <a:t>Focus on Framing in M1. Fix your Axis.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60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Avenir Next Bold"/>
                <a:ea typeface="Hiragino Sans W8"/>
              </a:rPr>
              <a:t>The reality of M2: time disappears suddenly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Avenir Book"/>
                <a:ea typeface="Hiragino Sans W4"/>
              </a:rPr>
              <a:t>Reality of M2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74621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3181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Avenir Next Bold"/>
                <a:ea typeface="Hiragino Sans W8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SEP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3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Draft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0370" y="3520439"/>
            <a:ext cx="329184" cy="438912"/>
          </a:xfrm>
          <a:prstGeom prst="chevron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6928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76391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84951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Avenir Next Bold"/>
                <a:ea typeface="Hiragino Sans W8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644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NOV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3874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Mid-term presentation</a:t>
            </a:r>
          </a:p>
        </p:txBody>
      </p:sp>
      <p:sp>
        <p:nvSpPr>
          <p:cNvPr id="17" name="Chevron 16"/>
          <p:cNvSpPr/>
          <p:nvPr/>
        </p:nvSpPr>
        <p:spPr>
          <a:xfrm>
            <a:off x="7832140" y="3520439"/>
            <a:ext cx="329184" cy="438912"/>
          </a:xfrm>
          <a:prstGeom prst="chevron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7105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78162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86722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Avenir Next Bold"/>
                <a:ea typeface="Hiragino Sans W8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821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JAN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5644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Submission deadline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64549" y="6108192"/>
            <a:ext cx="7062597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64549" y="6108192"/>
            <a:ext cx="7062597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Avenir Next Bold"/>
                <a:ea typeface="Hiragino Sans W6"/>
              </a:rPr>
              <a:t>Time disappears suddenly — that is why you design in M1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61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Avenir Next Bold"/>
                <a:ea typeface="Hiragino Sans W8"/>
              </a:rPr>
              <a:t>The PhD's three years: build, expand, integrate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Avenir Book"/>
                <a:ea typeface="Hiragino Sans W4"/>
              </a:rPr>
              <a:t>PhD: Axis Construction (3 Years)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517904"/>
            <a:ext cx="1417320" cy="1322832"/>
          </a:xfrm>
          <a:prstGeom prst="roundRect">
            <a:avLst>
              <a:gd name="adj" fmla="val 6912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517904"/>
            <a:ext cx="1417320" cy="1322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FFFFFF"/>
                </a:solidFill>
                <a:latin typeface="Avenir Next Bold"/>
                <a:ea typeface="Hiragino Sans W6"/>
              </a:rPr>
              <a:t>D1: Build the axis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59152" y="1517904"/>
            <a:ext cx="9165031" cy="1322832"/>
          </a:xfrm>
          <a:prstGeom prst="roundRect">
            <a:avLst>
              <a:gd name="adj" fmla="val 864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1517904"/>
            <a:ext cx="8579815" cy="1322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Axis construction — Review paper (externalize the hypothesis)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1220724" y="2859024"/>
            <a:ext cx="310896" cy="201168"/>
          </a:xfrm>
          <a:prstGeom prst="downArrow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" y="3078480"/>
            <a:ext cx="1417320" cy="1322832"/>
          </a:xfrm>
          <a:prstGeom prst="roundRect">
            <a:avLst>
              <a:gd name="adj" fmla="val 6912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3078480"/>
            <a:ext cx="1417320" cy="1322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>
                <a:solidFill>
                  <a:srgbClr val="FFFFFF"/>
                </a:solidFill>
                <a:latin typeface="Avenir Next Bold"/>
                <a:ea typeface="Hiragino Sans W6"/>
              </a:rPr>
              <a:t>D2: Expand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59152" y="3078480"/>
            <a:ext cx="9165031" cy="1322832"/>
          </a:xfrm>
          <a:prstGeom prst="roundRect">
            <a:avLst>
              <a:gd name="adj" fmla="val 864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3078480"/>
            <a:ext cx="8579815" cy="1322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Original expansion — deepen methods, gain independence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220724" y="4419600"/>
            <a:ext cx="310896" cy="201168"/>
          </a:xfrm>
          <a:prstGeom prst="downArrow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7512" y="4639056"/>
            <a:ext cx="1417320" cy="1322832"/>
          </a:xfrm>
          <a:prstGeom prst="roundRect">
            <a:avLst>
              <a:gd name="adj" fmla="val 6912"/>
            </a:avLst>
          </a:prstGeom>
          <a:solidFill>
            <a:srgbClr val="C6A44A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4639056"/>
            <a:ext cx="1417320" cy="1322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Avenir Next Bold"/>
                <a:ea typeface="Hiragino Sans W6"/>
              </a:rPr>
              <a:t>D3: Integrate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59152" y="4639056"/>
            <a:ext cx="9165031" cy="1322832"/>
          </a:xfrm>
          <a:prstGeom prst="roundRect">
            <a:avLst>
              <a:gd name="adj" fmla="val 864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51760" y="4989576"/>
            <a:ext cx="8579815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Integration &amp; positioning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5355336"/>
            <a:ext cx="8579815" cy="5699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Structural design of the thesis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51020" y="6108192"/>
            <a:ext cx="4089654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51020" y="6108192"/>
            <a:ext cx="4089654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Avenir Next Bold"/>
                <a:ea typeface="Hiragino Sans W6"/>
              </a:rPr>
              <a:t>"Axis-less PhDs will drift."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62 / 70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0" y="1005840"/>
            <a:ext cx="6400800" cy="4846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27000">
                <a:solidFill>
                  <a:srgbClr val="D9EAEF"/>
                </a:solidFill>
                <a:latin typeface="Avenir Next Bold"/>
                <a:ea typeface="Hiragino Sans W8"/>
              </a:rPr>
              <a:t>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" y="2240280"/>
            <a:ext cx="75895" cy="1833117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4983" y="2258568"/>
            <a:ext cx="82296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spc="280">
                <a:solidFill>
                  <a:srgbClr val="5D5D5D"/>
                </a:solidFill>
                <a:latin typeface="Avenir Next Bold"/>
                <a:ea typeface="Hiragino Sans W6"/>
              </a:rPr>
              <a:t>SECTION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3" y="2624328"/>
            <a:ext cx="9875520" cy="960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600">
                <a:solidFill>
                  <a:srgbClr val="1F2937"/>
                </a:solidFill>
                <a:latin typeface="Avenir Next Bold"/>
                <a:ea typeface="Hiragino Sans W8"/>
              </a:rPr>
              <a:t>Essential Habits &amp; Culture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3" y="3497326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>
                <a:solidFill>
                  <a:srgbClr val="7D7E7F"/>
                </a:solidFill>
                <a:latin typeface="Avenir Book"/>
                <a:ea typeface="Hiragino Sans W4"/>
              </a:rPr>
              <a:t>Research moves through daily practice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63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80644"/>
            <a:ext cx="57607" cy="658368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>
                <a:solidFill>
                  <a:srgbClr val="1F2937"/>
                </a:solidFill>
                <a:latin typeface="Avenir Next Bold"/>
                <a:ea typeface="Hiragino Sans W8"/>
              </a:rPr>
              <a:t>The difference is not talent — it is the density of daily routine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99032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Avenir Book"/>
                <a:ea typeface="Hiragino Sans W4"/>
              </a:rPr>
              <a:t>Essential Habits — you are the one who accumulates the days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911095"/>
            <a:ext cx="10856671" cy="693115"/>
          </a:xfrm>
          <a:prstGeom prst="roundRect">
            <a:avLst>
              <a:gd name="adj" fmla="val 1649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1034" y="2039112"/>
            <a:ext cx="437083" cy="437083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9594" y="2039112"/>
            <a:ext cx="619963" cy="4370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20">
                <a:solidFill>
                  <a:srgbClr val="FFFFFF"/>
                </a:solidFill>
                <a:latin typeface="Avenir Next Bold"/>
                <a:ea typeface="Hiragino Sans W8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5064" y="2003050"/>
            <a:ext cx="9576511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Research Log &amp; Thinking 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55064" y="2368810"/>
            <a:ext cx="9576511" cy="1800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>
                <a:solidFill>
                  <a:srgbClr val="5D5D5D"/>
                </a:solidFill>
                <a:latin typeface="Avenir Book"/>
                <a:ea typeface="Hiragino Sans W4"/>
              </a:rPr>
              <a:t>Every day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" y="2750515"/>
            <a:ext cx="10856671" cy="693115"/>
          </a:xfrm>
          <a:prstGeom prst="roundRect">
            <a:avLst>
              <a:gd name="adj" fmla="val 1649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1034" y="2878531"/>
            <a:ext cx="437083" cy="437083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9594" y="2878531"/>
            <a:ext cx="619963" cy="4370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20">
                <a:solidFill>
                  <a:srgbClr val="FFFFFF"/>
                </a:solidFill>
                <a:latin typeface="Avenir Next Bold"/>
                <a:ea typeface="Hiragino Sans W8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55064" y="2842469"/>
            <a:ext cx="9576511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Paper Card (Paper Board)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" y="3208229"/>
            <a:ext cx="9576511" cy="1800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>
                <a:solidFill>
                  <a:srgbClr val="5D5D5D"/>
                </a:solidFill>
                <a:latin typeface="Avenir Book"/>
                <a:ea typeface="Hiragino Sans W4"/>
              </a:rPr>
              <a:t>Every week — keep updating the claim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" y="3589934"/>
            <a:ext cx="10856671" cy="693115"/>
          </a:xfrm>
          <a:prstGeom prst="roundRect">
            <a:avLst>
              <a:gd name="adj" fmla="val 1649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1034" y="3717950"/>
            <a:ext cx="437083" cy="437083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9594" y="3717950"/>
            <a:ext cx="619963" cy="4370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20">
                <a:solidFill>
                  <a:srgbClr val="FFFFFF"/>
                </a:solidFill>
                <a:latin typeface="Avenir Next Bold"/>
                <a:ea typeface="Hiragino Sans W8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55064" y="3681888"/>
            <a:ext cx="9576511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Team Meeting / Lab Forum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5064" y="4047648"/>
            <a:ext cx="9576511" cy="1800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>
                <a:solidFill>
                  <a:srgbClr val="5D5D5D"/>
                </a:solidFill>
                <a:latin typeface="Avenir Book"/>
                <a:ea typeface="Hiragino Sans W4"/>
              </a:rPr>
              <a:t>Regular — decisions and sparring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" y="4429353"/>
            <a:ext cx="10856671" cy="693115"/>
          </a:xfrm>
          <a:prstGeom prst="roundRect">
            <a:avLst>
              <a:gd name="adj" fmla="val 1649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1034" y="4557369"/>
            <a:ext cx="437083" cy="437083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9594" y="4557369"/>
            <a:ext cx="619963" cy="4370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20">
                <a:solidFill>
                  <a:srgbClr val="FFFFFF"/>
                </a:solidFill>
                <a:latin typeface="Avenir Next Bold"/>
                <a:ea typeface="Hiragino Sans W8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55064" y="4521307"/>
            <a:ext cx="9576511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Individual Meeting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55064" y="4887067"/>
            <a:ext cx="9576511" cy="1800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>
                <a:solidFill>
                  <a:srgbClr val="5D5D5D"/>
                </a:solidFill>
                <a:latin typeface="Avenir Book"/>
                <a:ea typeface="Hiragino Sans W4"/>
              </a:rPr>
              <a:t>Periodic — axis check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" y="5268772"/>
            <a:ext cx="10856671" cy="693115"/>
          </a:xfrm>
          <a:prstGeom prst="roundRect">
            <a:avLst>
              <a:gd name="adj" fmla="val 1649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1034" y="5396788"/>
            <a:ext cx="437083" cy="437083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9594" y="5396788"/>
            <a:ext cx="619963" cy="4370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20">
                <a:solidFill>
                  <a:srgbClr val="FFFFFF"/>
                </a:solidFill>
                <a:latin typeface="Avenir Next Bold"/>
                <a:ea typeface="Hiragino Sans W8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55064" y="5360727"/>
            <a:ext cx="9576511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Quarter Plan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55064" y="5726487"/>
            <a:ext cx="9576511" cy="1800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>
                <a:solidFill>
                  <a:srgbClr val="5D5D5D"/>
                </a:solidFill>
                <a:latin typeface="Avenir Book"/>
                <a:ea typeface="Hiragino Sans W4"/>
              </a:rPr>
              <a:t>Every 90 days — structural visualization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70103" y="6108192"/>
            <a:ext cx="5051488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70103" y="6108192"/>
            <a:ext cx="5051488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Avenir Next Bold"/>
                <a:ea typeface="Hiragino Sans W6"/>
              </a:rPr>
              <a:t>Research moves through daily practice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64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Avenir Next Bold"/>
                <a:ea typeface="Hiragino Sans W8"/>
              </a:rPr>
              <a:t>Research Log and Thinking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Avenir Book"/>
                <a:ea typeface="Hiragino Sans W4"/>
              </a:rPr>
              <a:t>What is the Research &amp; Thinking Log?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517904"/>
            <a:ext cx="5245455" cy="4443983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55648"/>
            <a:ext cx="4660239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Research Log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194560"/>
            <a:ext cx="502920" cy="32004"/>
          </a:xfrm>
          <a:prstGeom prst="roundRect">
            <a:avLst>
              <a:gd name="adj" fmla="val 48571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54046"/>
            <a:ext cx="82296" cy="8229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97864" y="251460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9C8545"/>
                </a:solidFill>
                <a:latin typeface="Avenir Next Bold"/>
                <a:ea typeface="Hiragino Sans W6"/>
              </a:rPr>
              <a:t>What you did</a:t>
            </a: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 today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3545586"/>
            <a:ext cx="82296" cy="82296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340614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Facts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727" y="1517904"/>
            <a:ext cx="5245455" cy="4443983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71335" y="1755648"/>
            <a:ext cx="4660239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Thinking Log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71335" y="2194560"/>
            <a:ext cx="502920" cy="32004"/>
          </a:xfrm>
          <a:prstGeom prst="roundRect">
            <a:avLst>
              <a:gd name="adj" fmla="val 48571"/>
            </a:avLst>
          </a:prstGeom>
          <a:solidFill>
            <a:srgbClr val="35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71335" y="2654046"/>
            <a:ext cx="82296" cy="82296"/>
          </a:xfrm>
          <a:prstGeom prst="ellipse">
            <a:avLst/>
          </a:prstGeom>
          <a:solidFill>
            <a:srgbClr val="35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9079" y="251460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9C8545"/>
                </a:solidFill>
                <a:latin typeface="Avenir Next Bold"/>
                <a:ea typeface="Hiragino Sans W6"/>
              </a:rPr>
              <a:t>What you thought</a:t>
            </a: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 today</a:t>
            </a:r>
          </a:p>
        </p:txBody>
      </p:sp>
      <p:sp>
        <p:nvSpPr>
          <p:cNvPr id="18" name="Oval 17"/>
          <p:cNvSpPr/>
          <p:nvPr/>
        </p:nvSpPr>
        <p:spPr>
          <a:xfrm>
            <a:off x="6571335" y="3545586"/>
            <a:ext cx="82296" cy="82296"/>
          </a:xfrm>
          <a:prstGeom prst="ellipse">
            <a:avLst/>
          </a:prstGeom>
          <a:solidFill>
            <a:srgbClr val="35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09079" y="3406140"/>
            <a:ext cx="4422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1F2937"/>
                </a:solidFill>
                <a:latin typeface="Avenir Book"/>
                <a:ea typeface="Hiragino Sans W4"/>
              </a:rPr>
              <a:t>Interpretation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31725" y="6108192"/>
            <a:ext cx="6528244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1725" y="6108192"/>
            <a:ext cx="6528244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Avenir Next Bold"/>
                <a:ea typeface="Hiragino Sans W6"/>
              </a:rPr>
              <a:t>Research progresses through: Fact → Interpretation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65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Avenir Next Bold"/>
                <a:ea typeface="Hiragino Sans W8"/>
              </a:rPr>
              <a:t>Thinking happens outside the brain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Avenir Book"/>
                <a:ea typeface="Hiragino Sans W4"/>
              </a:rPr>
              <a:t>Why log? — research runs on external records, not memory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74621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3181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Avenir Next Bold"/>
                <a:ea typeface="Hiragino Sans W8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Brain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3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Thoughts evaporate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0370" y="3520439"/>
            <a:ext cx="329184" cy="438912"/>
          </a:xfrm>
          <a:prstGeom prst="chevron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6928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76391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84951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Avenir Next Bold"/>
                <a:ea typeface="Hiragino Sans W8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644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Note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3874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Write them down, outside</a:t>
            </a:r>
          </a:p>
        </p:txBody>
      </p:sp>
      <p:sp>
        <p:nvSpPr>
          <p:cNvPr id="17" name="Chevron 16"/>
          <p:cNvSpPr/>
          <p:nvPr/>
        </p:nvSpPr>
        <p:spPr>
          <a:xfrm>
            <a:off x="7832140" y="3520439"/>
            <a:ext cx="329184" cy="438912"/>
          </a:xfrm>
          <a:prstGeom prst="chevron">
            <a:avLst/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71052" y="2162556"/>
            <a:ext cx="3253130" cy="315468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78162" y="2436875"/>
            <a:ext cx="438912" cy="438912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86722" y="2436875"/>
            <a:ext cx="62179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>
                <a:solidFill>
                  <a:srgbClr val="FFFFFF"/>
                </a:solidFill>
                <a:latin typeface="Avenir Next Bold"/>
                <a:ea typeface="Hiragino Sans W8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8212" y="3031235"/>
            <a:ext cx="29788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Update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5644" y="3698748"/>
            <a:ext cx="29239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Records drive the next thought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35750" y="6108192"/>
            <a:ext cx="6120193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35750" y="6108192"/>
            <a:ext cx="6120193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Avenir Next Bold"/>
                <a:ea typeface="Hiragino Sans W6"/>
              </a:rPr>
              <a:t>Those who do not write repeat the same mistakes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66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Avenir Next Bold"/>
                <a:ea typeface="Hiragino Sans W8"/>
              </a:rPr>
              <a:t>How to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5D5D5D"/>
                </a:solidFill>
                <a:latin typeface="Avenir Book"/>
                <a:ea typeface="Hiragino Sans W4"/>
              </a:rPr>
              <a:t>Log → Paper Arc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517904"/>
            <a:ext cx="10856671" cy="1383791"/>
          </a:xfrm>
          <a:prstGeom prst="roundRect">
            <a:avLst>
              <a:gd name="adj" fmla="val 8259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1832" y="1972055"/>
            <a:ext cx="475488" cy="47548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972055"/>
            <a:ext cx="6583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72">
                <a:solidFill>
                  <a:srgbClr val="FFFFFF"/>
                </a:solidFill>
                <a:latin typeface="Avenir Next Bold"/>
                <a:ea typeface="Hiragino Sans W8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5064" y="1517904"/>
            <a:ext cx="9576511" cy="13837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One entry every day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" y="3047999"/>
            <a:ext cx="10856671" cy="1383791"/>
          </a:xfrm>
          <a:prstGeom prst="roundRect">
            <a:avLst>
              <a:gd name="adj" fmla="val 8259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1832" y="3502152"/>
            <a:ext cx="475488" cy="47548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502152"/>
            <a:ext cx="6583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72">
                <a:solidFill>
                  <a:srgbClr val="FFFFFF"/>
                </a:solidFill>
                <a:latin typeface="Avenir Next Bold"/>
                <a:ea typeface="Hiragino Sans W8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55064" y="3047999"/>
            <a:ext cx="9576511" cy="13837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No need for perfection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" y="4578095"/>
            <a:ext cx="10856671" cy="1383791"/>
          </a:xfrm>
          <a:prstGeom prst="roundRect">
            <a:avLst>
              <a:gd name="adj" fmla="val 8259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1832" y="5032248"/>
            <a:ext cx="475488" cy="475488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5032248"/>
            <a:ext cx="65836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72">
                <a:solidFill>
                  <a:srgbClr val="FFFFFF"/>
                </a:solidFill>
                <a:latin typeface="Avenir Next Bold"/>
                <a:ea typeface="Hiragino Sans W8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55064" y="4578095"/>
            <a:ext cx="9576511" cy="13837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Write hypotheses, facts &amp; interpretation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24854" y="6108192"/>
            <a:ext cx="6741985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24854" y="6108192"/>
            <a:ext cx="6741985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Avenir Next Bold"/>
                <a:ea typeface="Hiragino Sans W6"/>
              </a:rPr>
              <a:t>Writing drives the research forward — demo next week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67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84367" y="21031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9527" y="2331720"/>
            <a:ext cx="9692640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>
                <a:solidFill>
                  <a:srgbClr val="1F2937"/>
                </a:solidFill>
                <a:latin typeface="Avenir Next Bold"/>
                <a:ea typeface="Hiragino Sans W8"/>
              </a:rPr>
              <a:t>We value who you become through research
more than the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84367" y="41605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81047" y="443484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Lab Policy (reprise) — back to the promise we made at the start. Results → Human Growth. Research is a device for character building.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68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539496"/>
            <a:ext cx="57607" cy="347472"/>
          </a:xfrm>
          <a:prstGeom prst="roundRect">
            <a:avLst>
              <a:gd name="adj" fmla="val 49206"/>
            </a:avLst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75488"/>
            <a:ext cx="1065550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>
                <a:solidFill>
                  <a:srgbClr val="1F2937"/>
                </a:solidFill>
                <a:latin typeface="Avenir Next Bold"/>
                <a:ea typeface="Hiragino Sans W8"/>
              </a:rPr>
              <a:t>Lab Values — once more, what matters most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655503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>
                <a:solidFill>
                  <a:srgbClr val="5D5D5D"/>
                </a:solidFill>
                <a:latin typeface="Avenir Book"/>
                <a:ea typeface="Hiragino Sans W4"/>
              </a:rPr>
              <a:t>Your standard of action from tomorrow. Everything today was an implementation of these four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517904"/>
            <a:ext cx="5327751" cy="2121408"/>
          </a:xfrm>
          <a:prstGeom prst="roundRect">
            <a:avLst>
              <a:gd name="adj" fmla="val 538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23544" y="1755648"/>
            <a:ext cx="329184" cy="329184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1755648"/>
            <a:ext cx="51206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>
                <a:solidFill>
                  <a:srgbClr val="FFFFFF"/>
                </a:solidFill>
                <a:latin typeface="Avenir Next Bold"/>
                <a:ea typeface="Hiragino Sans W8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1737360"/>
            <a:ext cx="4367631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Self-management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304288"/>
            <a:ext cx="4779111" cy="1124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Ownership of your research is yours. Design your own time, plans, and health. The Research Log and Quarter Plan are tools of self-management. Don't wait to be managed.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6431" y="1517904"/>
            <a:ext cx="5327751" cy="2121408"/>
          </a:xfrm>
          <a:prstGeom prst="roundRect">
            <a:avLst>
              <a:gd name="adj" fmla="val 538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52463" y="1755648"/>
            <a:ext cx="329184" cy="329184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1023" y="1755648"/>
            <a:ext cx="51206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>
                <a:solidFill>
                  <a:srgbClr val="FFFFFF"/>
                </a:solidFill>
                <a:latin typeface="Avenir Next Bold"/>
                <a:ea typeface="Hiragino Sans W8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7951" y="1737360"/>
            <a:ext cx="4367631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Integrity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0751" y="2304288"/>
            <a:ext cx="4779111" cy="1124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Be honest with the data, with people, and with yourself. Share unsuccessful results and stagnation openly. "Silence when stuck" is the opposite of integrity.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" y="3840480"/>
            <a:ext cx="5327751" cy="2121408"/>
          </a:xfrm>
          <a:prstGeom prst="roundRect">
            <a:avLst>
              <a:gd name="adj" fmla="val 538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4078224"/>
            <a:ext cx="329184" cy="329184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" y="4078224"/>
            <a:ext cx="51206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>
                <a:solidFill>
                  <a:srgbClr val="FFFFFF"/>
                </a:solidFill>
                <a:latin typeface="Avenir Next Bold"/>
                <a:ea typeface="Hiragino Sans W8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2" y="4059936"/>
            <a:ext cx="4367631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Respect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4626864"/>
            <a:ext cx="4779111" cy="1124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Respect for people, ideas, and time. In discussion, critique the Work — never attack the Peer. Come prepared, out of respect for others' time.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6431" y="3840480"/>
            <a:ext cx="5327751" cy="2121408"/>
          </a:xfrm>
          <a:prstGeom prst="roundRect">
            <a:avLst>
              <a:gd name="adj" fmla="val 538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52463" y="4078224"/>
            <a:ext cx="329184" cy="329184"/>
          </a:xfrm>
          <a:prstGeom prst="ellipse">
            <a:avLst/>
          </a:prstGeom>
          <a:solidFill>
            <a:srgbClr val="207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1023" y="4078224"/>
            <a:ext cx="51206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>
                <a:solidFill>
                  <a:srgbClr val="FFFFFF"/>
                </a:solidFill>
                <a:latin typeface="Avenir Next Bold"/>
                <a:ea typeface="Hiragino Sans W8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7951" y="4059936"/>
            <a:ext cx="4367631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>
                <a:solidFill>
                  <a:srgbClr val="1F2937"/>
                </a:solidFill>
                <a:latin typeface="Avenir Next Bold"/>
                <a:ea typeface="Hiragino Sans W6"/>
              </a:rPr>
              <a:t>Collective Inquiry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0751" y="4626864"/>
            <a:ext cx="4779111" cy="1124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Research is not a solo game. Paper Card and Inquiry Cycle form a common language that accelerates each other's inquiry. Culture is built by everyone.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28880" y="6108192"/>
            <a:ext cx="6333934" cy="493776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8880" y="6108192"/>
            <a:ext cx="6333934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>
                <a:solidFill>
                  <a:srgbClr val="FFFFFF"/>
                </a:solidFill>
                <a:latin typeface="Avenir Next Bold"/>
                <a:ea typeface="Hiragino Sans W6"/>
              </a:rPr>
              <a:t>Values are shown in daily actions, not on posters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69 / 70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84367" y="21031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9527" y="2331720"/>
            <a:ext cx="9692640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>
                <a:solidFill>
                  <a:srgbClr val="1F2937"/>
                </a:solidFill>
                <a:latin typeface="Avenir Next Bold"/>
                <a:ea typeface="Hiragino Sans W8"/>
              </a:rPr>
              <a:t>Culture is not accidental.
It is designed.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84367" y="4160520"/>
            <a:ext cx="822960" cy="25603"/>
          </a:xfrm>
          <a:prstGeom prst="roundRect">
            <a:avLst>
              <a:gd name="adj" fmla="val 50000"/>
            </a:avLst>
          </a:prstGeom>
          <a:solidFill>
            <a:srgbClr val="B0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81047" y="443484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>
                <a:solidFill>
                  <a:srgbClr val="5D5D5D"/>
                </a:solidFill>
                <a:latin typeface="Avenir Book"/>
                <a:ea typeface="Hiragino Sans W4"/>
              </a:rPr>
              <a:t>Research is Culture (reprise) — Structure → Habit → Culture. Everything we discussed today is a component for designing this culture.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7395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D5D5D"/>
                </a:solidFill>
                <a:latin typeface="Avenir Book"/>
                <a:ea typeface="Hiragino Sans W4"/>
              </a:rPr>
              <a:t>70 / 70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9527" y="2148840"/>
            <a:ext cx="96926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400">
                <a:solidFill>
                  <a:srgbClr val="1F2937"/>
                </a:solidFill>
                <a:latin typeface="Avenir Next Bold"/>
                <a:ea typeface="Hiragino Sans W8"/>
              </a:rPr>
              <a:t>Are you ready to update?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06727" y="3520440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>
                <a:solidFill>
                  <a:srgbClr val="7D7E7F"/>
                </a:solidFill>
                <a:latin typeface="Avenir Book"/>
                <a:ea typeface="Hiragino Sans W4"/>
              </a:rPr>
              <a:t>The Research OS is installed — now keep updating, every 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18182" y="4343400"/>
            <a:ext cx="7755331" cy="566928"/>
          </a:xfrm>
          <a:prstGeom prst="roundRect">
            <a:avLst>
              <a:gd name="adj" fmla="val 50000"/>
            </a:avLst>
          </a:prstGeom>
          <a:solidFill>
            <a:srgbClr val="207A91"/>
          </a:solidFill>
          <a:ln>
            <a:noFill/>
          </a:ln>
          <a:effectLst>
            <a:outerShdw blurRad="54864" dist="1463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18182" y="4343400"/>
            <a:ext cx="7755331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>
                <a:solidFill>
                  <a:srgbClr val="FFFFFF"/>
                </a:solidFill>
                <a:latin typeface="Avenir Next Bold"/>
                <a:ea typeface="Hiragino Sans W6"/>
              </a:rPr>
              <a:t>Questions anytime: Lab Forum / Team Meeting / Individual Meeting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